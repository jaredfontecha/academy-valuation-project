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charts/chart5.xml" ContentType="application/vnd.openxmlformats-officedocument.drawingml.chart+xml"/>
  <Override PartName="/ppt/notesSlides/notesSlide10.xml" ContentType="application/vnd.openxmlformats-officedocument.presentationml.notesSlide+xml"/>
  <Override PartName="/ppt/charts/chart6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9" d="100"/>
          <a:sy n="119" d="100"/>
        </p:scale>
        <p:origin x="216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Sales</c:v>
                </c:pt>
              </c:strCache>
            </c:strRef>
          </c:tx>
          <c:spPr>
            <a:ln w="25400" cap="flat">
              <a:solidFill>
                <a:srgbClr val="C050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0504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2023A</c:v>
                </c:pt>
                <c:pt idx="1">
                  <c:v>2024A</c:v>
                </c:pt>
                <c:pt idx="2">
                  <c:v>2025A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6159.2910000000002</c:v>
                </c:pt>
                <c:pt idx="1">
                  <c:v>5933.45</c:v>
                </c:pt>
                <c:pt idx="2">
                  <c:v>6053.4139999999998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D11-DC4E-B863-82EC99DD43A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Operating Income</c:v>
                </c:pt>
              </c:strCache>
            </c:strRef>
          </c:tx>
          <c:spPr>
            <a:ln w="25400" cap="flat">
              <a:solidFill>
                <a:srgbClr val="4F81B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4F81BD"/>
              </a:solidFill>
              <a:ln w="9525" cap="flat">
                <a:solidFill>
                  <a:srgbClr val="4F81BD"/>
                </a:solidFill>
                <a:prstDash val="solid"/>
                <a:round/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2023A</c:v>
                </c:pt>
                <c:pt idx="1">
                  <c:v>2024A</c:v>
                </c:pt>
                <c:pt idx="2">
                  <c:v>2025A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677.85500000000002</c:v>
                </c:pt>
                <c:pt idx="1">
                  <c:v>538.63900000000001</c:v>
                </c:pt>
                <c:pt idx="2">
                  <c:v>512.18399999999997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D11-DC4E-B863-82EC99DD43A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2026E</c:v>
                </c:pt>
                <c:pt idx="1">
                  <c:v>2027E</c:v>
                </c:pt>
                <c:pt idx="2">
                  <c:v>2028E</c:v>
                </c:pt>
                <c:pt idx="3">
                  <c:v>2029E</c:v>
                </c:pt>
                <c:pt idx="4">
                  <c:v>2030E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6295.5510000000004</c:v>
                </c:pt>
                <c:pt idx="1">
                  <c:v>6610.3280000000004</c:v>
                </c:pt>
                <c:pt idx="2">
                  <c:v>6907.7929999999997</c:v>
                </c:pt>
                <c:pt idx="3">
                  <c:v>7218.6440000000002</c:v>
                </c:pt>
                <c:pt idx="4">
                  <c:v>7507.3890000000001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9F2-AA4D-9FF5-7130B457217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EBITDA</c:v>
                </c:pt>
              </c:strCache>
            </c:strRef>
          </c:tx>
          <c:spPr>
            <a:solidFill>
              <a:srgbClr val="4F81BD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2026E</c:v>
                </c:pt>
                <c:pt idx="1">
                  <c:v>2027E</c:v>
                </c:pt>
                <c:pt idx="2">
                  <c:v>2028E</c:v>
                </c:pt>
                <c:pt idx="3">
                  <c:v>2029E</c:v>
                </c:pt>
                <c:pt idx="4">
                  <c:v>2030E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690.59100000000001</c:v>
                </c:pt>
                <c:pt idx="1">
                  <c:v>746.31399999999996</c:v>
                </c:pt>
                <c:pt idx="2">
                  <c:v>802.99599999999998</c:v>
                </c:pt>
                <c:pt idx="3">
                  <c:v>860.529</c:v>
                </c:pt>
                <c:pt idx="4">
                  <c:v>901.15300000000002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9F2-AA4D-9FF5-7130B457217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Ending Debt</c:v>
                </c:pt>
              </c:strCache>
            </c:strRef>
          </c:tx>
          <c:spPr>
            <a:ln w="38100" cap="flat">
              <a:solidFill>
                <a:srgbClr val="C050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0504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2026E</c:v>
                </c:pt>
                <c:pt idx="1">
                  <c:v>2027E</c:v>
                </c:pt>
                <c:pt idx="2">
                  <c:v>2028E</c:v>
                </c:pt>
                <c:pt idx="3">
                  <c:v>2029E</c:v>
                </c:pt>
                <c:pt idx="4">
                  <c:v>2030E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2692.2130000000002</c:v>
                </c:pt>
                <c:pt idx="1">
                  <c:v>2472.2330000000002</c:v>
                </c:pt>
                <c:pt idx="2">
                  <c:v>2197.86</c:v>
                </c:pt>
                <c:pt idx="3">
                  <c:v>1869.0719999999999</c:v>
                </c:pt>
                <c:pt idx="4">
                  <c:v>1527.8530000000001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A81-AC40-9FDD-3C426FD9956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Price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Current</c:v>
                </c:pt>
                <c:pt idx="1">
                  <c:v>EV/Revenue</c:v>
                </c:pt>
                <c:pt idx="2">
                  <c:v>Comps Avg</c:v>
                </c:pt>
                <c:pt idx="3">
                  <c:v>P/E</c:v>
                </c:pt>
                <c:pt idx="4">
                  <c:v>EV/EBITDA</c:v>
                </c:pt>
                <c:pt idx="5">
                  <c:v>DCF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43.54</c:v>
                </c:pt>
                <c:pt idx="1">
                  <c:v>66.42</c:v>
                </c:pt>
                <c:pt idx="2">
                  <c:v>86.81</c:v>
                </c:pt>
                <c:pt idx="3">
                  <c:v>92.39</c:v>
                </c:pt>
                <c:pt idx="4">
                  <c:v>101.61</c:v>
                </c:pt>
                <c:pt idx="5">
                  <c:v>102.96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336-634C-A6B8-690D472755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Unlevered FCF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2026E</c:v>
                </c:pt>
                <c:pt idx="1">
                  <c:v>2027E</c:v>
                </c:pt>
                <c:pt idx="2">
                  <c:v>2028E</c:v>
                </c:pt>
                <c:pt idx="3">
                  <c:v>2029E</c:v>
                </c:pt>
                <c:pt idx="4">
                  <c:v>2030E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336.935</c:v>
                </c:pt>
                <c:pt idx="1">
                  <c:v>378.94400000000002</c:v>
                </c:pt>
                <c:pt idx="2">
                  <c:v>420.661</c:v>
                </c:pt>
                <c:pt idx="3">
                  <c:v>459.245</c:v>
                </c:pt>
                <c:pt idx="4">
                  <c:v>452.67399999999998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D2E-2D48-AF39-3AC6D625C0E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PV of UFCF</c:v>
                </c:pt>
              </c:strCache>
            </c:strRef>
          </c:tx>
          <c:spPr>
            <a:solidFill>
              <a:srgbClr val="4F81BD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2026E</c:v>
                </c:pt>
                <c:pt idx="1">
                  <c:v>2027E</c:v>
                </c:pt>
                <c:pt idx="2">
                  <c:v>2028E</c:v>
                </c:pt>
                <c:pt idx="3">
                  <c:v>2029E</c:v>
                </c:pt>
                <c:pt idx="4">
                  <c:v>2030E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310.02699999999999</c:v>
                </c:pt>
                <c:pt idx="1">
                  <c:v>320.83499999999998</c:v>
                </c:pt>
                <c:pt idx="2">
                  <c:v>327.71300000000002</c:v>
                </c:pt>
                <c:pt idx="3">
                  <c:v>329.2</c:v>
                </c:pt>
                <c:pt idx="4">
                  <c:v>298.57499999999999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D2E-2D48-AF39-3AC6D625C0E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EV/EBITDA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Academy</c:v>
                </c:pt>
                <c:pt idx="1">
                  <c:v>DICK'S</c:v>
                </c:pt>
                <c:pt idx="2">
                  <c:v>Boot Barn</c:v>
                </c:pt>
                <c:pt idx="3">
                  <c:v>Tractor Supply</c:v>
                </c:pt>
                <c:pt idx="4">
                  <c:v>Peer Median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4.49</c:v>
                </c:pt>
                <c:pt idx="1">
                  <c:v>7.67</c:v>
                </c:pt>
                <c:pt idx="2">
                  <c:v>12.52</c:v>
                </c:pt>
                <c:pt idx="3">
                  <c:v>10.17</c:v>
                </c:pt>
                <c:pt idx="4">
                  <c:v>10.17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350-314F-B953-6301E9538E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20754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6510528"/>
            <a:ext cx="1133856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6565392"/>
            <a:ext cx="5943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</a:rPr>
              <a:t>Academy Sports + Outdoors | Valuation &amp; LBO Pitch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94360" y="114300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ACADEMY SPORTS + OUTDOORS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94360" y="1720148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chemeClr val="bg1"/>
                </a:solidFill>
              </a:rPr>
              <a:t>Valuation Model &amp; Leveraged Buyout Investment Pitch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594360" y="2423160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BD5E1"/>
                </a:solidFill>
              </a:rPr>
              <a:t>Built from Excel model: 3-statement forecast, DCF, trading comps, and LBO returns analysis</a:t>
            </a:r>
          </a:p>
          <a:p>
            <a:pPr marL="0" indent="0">
              <a:buNone/>
            </a:pPr>
            <a:r>
              <a:rPr lang="en-US" sz="1500" dirty="0">
                <a:solidFill>
                  <a:srgbClr val="CBD5E1"/>
                </a:solidFill>
              </a:rPr>
              <a:t>Prepared by: Jared Tyler Fontecha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1792" y="3794760"/>
            <a:ext cx="2651760" cy="1115568"/>
          </a:xfrm>
          <a:prstGeom prst="roundRect">
            <a:avLst>
              <a:gd name="adj" fmla="val 6557"/>
            </a:avLst>
          </a:prstGeom>
          <a:solidFill>
            <a:srgbClr val="13294B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21792" y="3794760"/>
            <a:ext cx="45720" cy="111556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86384" y="3913632"/>
            <a:ext cx="23957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chemeClr val="bg1"/>
                </a:solidFill>
              </a:rPr>
              <a:t>Base Case LBO IRR</a:t>
            </a:r>
            <a:endParaRPr lang="en-US" sz="85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786384" y="4151376"/>
            <a:ext cx="2395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23.1%</a:t>
            </a:r>
            <a:endParaRPr lang="en-US" sz="1900" dirty="0">
              <a:solidFill>
                <a:schemeClr val="bg1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786384" y="452628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chemeClr val="bg1"/>
                </a:solidFill>
              </a:rPr>
              <a:t>5-year hold, 4.50x exit multiple</a:t>
            </a:r>
          </a:p>
        </p:txBody>
      </p:sp>
      <p:sp>
        <p:nvSpPr>
          <p:cNvPr id="11" name="Shape 9"/>
          <p:cNvSpPr/>
          <p:nvPr/>
        </p:nvSpPr>
        <p:spPr>
          <a:xfrm>
            <a:off x="3520440" y="3794760"/>
            <a:ext cx="2651760" cy="1115568"/>
          </a:xfrm>
          <a:prstGeom prst="roundRect">
            <a:avLst>
              <a:gd name="adj" fmla="val 6557"/>
            </a:avLst>
          </a:prstGeom>
          <a:solidFill>
            <a:srgbClr val="13294B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520440" y="3794760"/>
            <a:ext cx="45720" cy="111556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85032" y="3913632"/>
            <a:ext cx="23957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chemeClr val="bg1"/>
                </a:solidFill>
              </a:rPr>
              <a:t>Base Case MOIC</a:t>
            </a:r>
            <a:endParaRPr lang="en-US" sz="850" dirty="0">
              <a:solidFill>
                <a:schemeClr val="bg1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3685032" y="4151376"/>
            <a:ext cx="2395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2.82x</a:t>
            </a:r>
            <a:endParaRPr lang="en-US" sz="1900" dirty="0">
              <a:solidFill>
                <a:schemeClr val="bg1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3685032" y="452628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chemeClr val="bg1"/>
                </a:solidFill>
              </a:rPr>
              <a:t>Exit equity / sponsor equity</a:t>
            </a:r>
          </a:p>
        </p:txBody>
      </p:sp>
      <p:sp>
        <p:nvSpPr>
          <p:cNvPr id="16" name="Shape 14"/>
          <p:cNvSpPr/>
          <p:nvPr/>
        </p:nvSpPr>
        <p:spPr>
          <a:xfrm>
            <a:off x="6419088" y="3794760"/>
            <a:ext cx="2651760" cy="1115568"/>
          </a:xfrm>
          <a:prstGeom prst="roundRect">
            <a:avLst>
              <a:gd name="adj" fmla="val 6557"/>
            </a:avLst>
          </a:prstGeom>
          <a:solidFill>
            <a:srgbClr val="13294B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419088" y="3794760"/>
            <a:ext cx="45720" cy="11155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583680" y="3913632"/>
            <a:ext cx="23957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chemeClr val="bg1"/>
                </a:solidFill>
              </a:rPr>
              <a:t>DCF Implied Price</a:t>
            </a:r>
            <a:endParaRPr lang="en-US" sz="850" dirty="0">
              <a:solidFill>
                <a:schemeClr val="bg1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6583680" y="4151376"/>
            <a:ext cx="2395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$102.96</a:t>
            </a:r>
            <a:endParaRPr lang="en-US" sz="1900" dirty="0">
              <a:solidFill>
                <a:schemeClr val="bg1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6583680" y="452628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chemeClr val="bg1"/>
                </a:solidFill>
              </a:rPr>
              <a:t>vs. $43.54 current share price</a:t>
            </a:r>
          </a:p>
        </p:txBody>
      </p:sp>
      <p:sp>
        <p:nvSpPr>
          <p:cNvPr id="22" name="Text 20"/>
          <p:cNvSpPr/>
          <p:nvPr/>
        </p:nvSpPr>
        <p:spPr>
          <a:xfrm>
            <a:off x="10241280" y="57150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E2E8F0"/>
                </a:solidFill>
              </a:rPr>
              <a:t>August 2026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Executive summary: valuation is compelling, but LBO depends on disciplined purchase price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864108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The model supports a positive investment view; the PE case becomes attractive after adding a realistic premium and minimum cash assumption.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66928" y="1143000"/>
            <a:ext cx="214884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66928" y="1143000"/>
            <a:ext cx="45720" cy="102412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261872"/>
            <a:ext cx="18928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</a:rPr>
              <a:t>Current Share Price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31520" y="1499616"/>
            <a:ext cx="1892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33F"/>
                </a:solidFill>
              </a:rPr>
              <a:t>$43.54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31520" y="1874520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64748B"/>
                </a:solidFill>
              </a:rPr>
              <a:t>Market reference used in model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2880360" y="1143000"/>
            <a:ext cx="214884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880360" y="1143000"/>
            <a:ext cx="45720" cy="10241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044952" y="1261872"/>
            <a:ext cx="18928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</a:rPr>
              <a:t>DCF Implied Price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044952" y="1499616"/>
            <a:ext cx="1892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33F"/>
                </a:solidFill>
              </a:rPr>
              <a:t>$102.96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3044952" y="1874520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64748B"/>
                </a:solidFill>
              </a:rPr>
              <a:t>High upside from cash-flow valuation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5193792" y="1143000"/>
            <a:ext cx="214884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193792" y="1143000"/>
            <a:ext cx="45720" cy="102412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358384" y="1261872"/>
            <a:ext cx="18928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Comps Avg Price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358384" y="1499616"/>
            <a:ext cx="1892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33F"/>
                </a:solidFill>
              </a:rPr>
              <a:t>$86.81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5358384" y="1874520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64748B"/>
                </a:solidFill>
              </a:rPr>
              <a:t>Trading-comps implied average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7507224" y="1143000"/>
            <a:ext cx="214884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507224" y="1143000"/>
            <a:ext cx="45720" cy="102412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671816" y="1261872"/>
            <a:ext cx="18928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</a:rPr>
              <a:t>LBO IRR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671816" y="1499616"/>
            <a:ext cx="1892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33F"/>
                </a:solidFill>
              </a:rPr>
              <a:t>23.1%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7671816" y="1874520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64748B"/>
                </a:solidFill>
              </a:rPr>
              <a:t>Base-case sponsor return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9820656" y="1143000"/>
            <a:ext cx="182880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9820656" y="1143000"/>
            <a:ext cx="45720" cy="102412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985248" y="1261872"/>
            <a:ext cx="15727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</a:rPr>
              <a:t>MOIC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985248" y="1499616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33F"/>
                </a:solidFill>
              </a:rPr>
              <a:t>2.82x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9985248" y="187452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64748B"/>
                </a:solidFill>
              </a:rPr>
              <a:t>Base-case exit value</a:t>
            </a:r>
            <a:endParaRPr lang="en-US" sz="820" dirty="0"/>
          </a:p>
        </p:txBody>
      </p:sp>
      <p:sp>
        <p:nvSpPr>
          <p:cNvPr id="29" name="Text 27"/>
          <p:cNvSpPr/>
          <p:nvPr/>
        </p:nvSpPr>
        <p:spPr>
          <a:xfrm>
            <a:off x="594360" y="2606040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b="1" dirty="0">
                <a:solidFill>
                  <a:srgbClr val="10233F"/>
                </a:solidFill>
              </a:rPr>
              <a:t>INVESTMENT THESIS</a:t>
            </a:r>
            <a:endParaRPr lang="en-US" sz="730" dirty="0"/>
          </a:p>
        </p:txBody>
      </p:sp>
      <p:sp>
        <p:nvSpPr>
          <p:cNvPr id="30" name="Shape 28"/>
          <p:cNvSpPr/>
          <p:nvPr/>
        </p:nvSpPr>
        <p:spPr>
          <a:xfrm>
            <a:off x="594360" y="2807208"/>
            <a:ext cx="5212080" cy="0"/>
          </a:xfrm>
          <a:prstGeom prst="line">
            <a:avLst/>
          </a:prstGeom>
          <a:noFill/>
          <a:ln w="12700">
            <a:solidFill>
              <a:srgbClr val="1023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85800" y="2907792"/>
            <a:ext cx="4892040" cy="2011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230" dirty="0">
                <a:solidFill>
                  <a:srgbClr val="334155"/>
                </a:solidFill>
              </a:rPr>
              <a:t>Academy has a low starting valuation relative to forecast cash-flow potential.</a:t>
            </a:r>
            <a:endParaRPr lang="en-US" sz="1230" dirty="0"/>
          </a:p>
          <a:p>
            <a:r>
              <a:rPr lang="en-US" sz="1230" dirty="0">
                <a:solidFill>
                  <a:srgbClr val="334155"/>
                </a:solidFill>
              </a:rPr>
              <a:t>The model shows EBITDA rising from $635mm entry EBITDA to roughly $901mm by 2030E.</a:t>
            </a:r>
            <a:endParaRPr lang="en-US" sz="1230" dirty="0"/>
          </a:p>
          <a:p>
            <a:r>
              <a:rPr lang="en-US" sz="1230" dirty="0">
                <a:solidFill>
                  <a:srgbClr val="334155"/>
                </a:solidFill>
              </a:rPr>
              <a:t>Debt paydown is meaningful: ending LBO debt falls to about $1.53bn by 2030E.</a:t>
            </a:r>
            <a:endParaRPr lang="en-US" sz="1230" dirty="0"/>
          </a:p>
          <a:p>
            <a:r>
              <a:rPr lang="en-US" sz="1230" dirty="0">
                <a:solidFill>
                  <a:srgbClr val="334155"/>
                </a:solidFill>
              </a:rPr>
              <a:t>At a realistic 20% takeover premium, base-case returns still clear a typical PE return screen.</a:t>
            </a:r>
            <a:endParaRPr lang="en-US" sz="1230" dirty="0"/>
          </a:p>
        </p:txBody>
      </p:sp>
      <p:sp>
        <p:nvSpPr>
          <p:cNvPr id="32" name="Text 30"/>
          <p:cNvSpPr/>
          <p:nvPr/>
        </p:nvSpPr>
        <p:spPr>
          <a:xfrm>
            <a:off x="6172200" y="2606040"/>
            <a:ext cx="5074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b="1" dirty="0">
                <a:solidFill>
                  <a:srgbClr val="10233F"/>
                </a:solidFill>
              </a:rPr>
              <a:t>DECISION LENS</a:t>
            </a:r>
            <a:endParaRPr lang="en-US" sz="730" dirty="0"/>
          </a:p>
        </p:txBody>
      </p:sp>
      <p:sp>
        <p:nvSpPr>
          <p:cNvPr id="33" name="Shape 31"/>
          <p:cNvSpPr/>
          <p:nvPr/>
        </p:nvSpPr>
        <p:spPr>
          <a:xfrm>
            <a:off x="6172200" y="2807208"/>
            <a:ext cx="5074920" cy="0"/>
          </a:xfrm>
          <a:prstGeom prst="line">
            <a:avLst/>
          </a:prstGeom>
          <a:noFill/>
          <a:ln w="12700">
            <a:solidFill>
              <a:srgbClr val="1023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263640" y="2907792"/>
            <a:ext cx="4800600" cy="1920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230" dirty="0">
                <a:solidFill>
                  <a:srgbClr val="334155"/>
                </a:solidFill>
              </a:rPr>
              <a:t>Pitch angle: this is a potential buyout candidate if diligence confirms sustainable margins and inventory discipline.</a:t>
            </a:r>
            <a:endParaRPr lang="en-US" sz="1230" dirty="0"/>
          </a:p>
          <a:p>
            <a:r>
              <a:rPr lang="en-US" sz="1230" dirty="0">
                <a:solidFill>
                  <a:srgbClr val="334155"/>
                </a:solidFill>
              </a:rPr>
              <a:t>Main risk: the LBO return is very sensitive to entry leverage and exit multiple.</a:t>
            </a:r>
            <a:endParaRPr lang="en-US" sz="1230" dirty="0"/>
          </a:p>
          <a:p>
            <a:r>
              <a:rPr lang="en-US" sz="1230" dirty="0">
                <a:solidFill>
                  <a:srgbClr val="334155"/>
                </a:solidFill>
              </a:rPr>
              <a:t>Recommendation: advance to deeper diligence, with focus on competitive position, store productivity, and lender appetite.</a:t>
            </a:r>
            <a:endParaRPr lang="en-US" sz="123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the Excel model flows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13232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This slide is the map: each tab feeds the next tab, and the Checks tab makes sure the model ties.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508760" cy="777240"/>
          </a:xfrm>
          <a:prstGeom prst="roundRect">
            <a:avLst>
              <a:gd name="adj" fmla="val 7059"/>
            </a:avLst>
          </a:prstGeom>
          <a:solidFill>
            <a:srgbClr val="E0F2FE"/>
          </a:solidFill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76072" y="1435608"/>
            <a:ext cx="1362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0233F"/>
                </a:solidFill>
              </a:rPr>
              <a:t>Historicals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94360" y="170078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334155"/>
                </a:solidFill>
              </a:rPr>
              <a:t>Actual financial statements from filings</a:t>
            </a:r>
            <a:endParaRPr lang="en-US" sz="720" dirty="0"/>
          </a:p>
        </p:txBody>
      </p:sp>
      <p:sp>
        <p:nvSpPr>
          <p:cNvPr id="7" name="Shape 5"/>
          <p:cNvSpPr/>
          <p:nvPr/>
        </p:nvSpPr>
        <p:spPr>
          <a:xfrm>
            <a:off x="2029968" y="1709928"/>
            <a:ext cx="118872" cy="0"/>
          </a:xfrm>
          <a:prstGeom prst="line">
            <a:avLst/>
          </a:prstGeom>
          <a:noFill/>
          <a:ln w="1397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176272" y="1325880"/>
            <a:ext cx="1508760" cy="777240"/>
          </a:xfrm>
          <a:prstGeom prst="roundRect">
            <a:avLst>
              <a:gd name="adj" fmla="val 7059"/>
            </a:avLst>
          </a:prstGeom>
          <a:solidFill>
            <a:srgbClr val="E0F2FE"/>
          </a:solidFill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249424" y="1435608"/>
            <a:ext cx="1362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0233F"/>
                </a:solidFill>
              </a:rPr>
              <a:t>Assumptions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267712" y="170078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334155"/>
                </a:solidFill>
              </a:rPr>
              <a:t>Drivers for sales, margin, working capital, capex</a:t>
            </a:r>
            <a:endParaRPr lang="en-US" sz="720" dirty="0"/>
          </a:p>
        </p:txBody>
      </p:sp>
      <p:sp>
        <p:nvSpPr>
          <p:cNvPr id="11" name="Shape 9"/>
          <p:cNvSpPr/>
          <p:nvPr/>
        </p:nvSpPr>
        <p:spPr>
          <a:xfrm>
            <a:off x="3703320" y="1709928"/>
            <a:ext cx="118872" cy="0"/>
          </a:xfrm>
          <a:prstGeom prst="line">
            <a:avLst/>
          </a:prstGeom>
          <a:noFill/>
          <a:ln w="1397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849624" y="1325880"/>
            <a:ext cx="1508760" cy="777240"/>
          </a:xfrm>
          <a:prstGeom prst="roundRect">
            <a:avLst>
              <a:gd name="adj" fmla="val 7059"/>
            </a:avLst>
          </a:prstGeom>
          <a:solidFill>
            <a:srgbClr val="E0F2FE"/>
          </a:solidFill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922776" y="1435608"/>
            <a:ext cx="1362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0233F"/>
                </a:solidFill>
              </a:rPr>
              <a:t>Operating Model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941064" y="170078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334155"/>
                </a:solidFill>
              </a:rPr>
              <a:t>Revenue, COGS, gross profit, SG&amp;A, EBIT</a:t>
            </a:r>
            <a:endParaRPr lang="en-US" sz="720" dirty="0"/>
          </a:p>
        </p:txBody>
      </p:sp>
      <p:sp>
        <p:nvSpPr>
          <p:cNvPr id="15" name="Shape 13"/>
          <p:cNvSpPr/>
          <p:nvPr/>
        </p:nvSpPr>
        <p:spPr>
          <a:xfrm>
            <a:off x="5376672" y="1709928"/>
            <a:ext cx="118872" cy="0"/>
          </a:xfrm>
          <a:prstGeom prst="line">
            <a:avLst/>
          </a:prstGeom>
          <a:noFill/>
          <a:ln w="1397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522976" y="1325880"/>
            <a:ext cx="1508760" cy="777240"/>
          </a:xfrm>
          <a:prstGeom prst="roundRect">
            <a:avLst>
              <a:gd name="adj" fmla="val 7059"/>
            </a:avLst>
          </a:prstGeom>
          <a:solidFill>
            <a:srgbClr val="E0F2FE"/>
          </a:solidFill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596128" y="1435608"/>
            <a:ext cx="1362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0233F"/>
                </a:solidFill>
              </a:rPr>
              <a:t>3-Statement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614416" y="170078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334155"/>
                </a:solidFill>
              </a:rPr>
              <a:t>Integrated IS, BS, CF and balance checks</a:t>
            </a:r>
            <a:endParaRPr lang="en-US" sz="720" dirty="0"/>
          </a:p>
        </p:txBody>
      </p:sp>
      <p:sp>
        <p:nvSpPr>
          <p:cNvPr id="19" name="Shape 17"/>
          <p:cNvSpPr/>
          <p:nvPr/>
        </p:nvSpPr>
        <p:spPr>
          <a:xfrm>
            <a:off x="7050024" y="1709928"/>
            <a:ext cx="118872" cy="0"/>
          </a:xfrm>
          <a:prstGeom prst="line">
            <a:avLst/>
          </a:prstGeom>
          <a:noFill/>
          <a:ln w="1397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196328" y="1325880"/>
            <a:ext cx="1508760" cy="777240"/>
          </a:xfrm>
          <a:prstGeom prst="roundRect">
            <a:avLst>
              <a:gd name="adj" fmla="val 7059"/>
            </a:avLst>
          </a:prstGeom>
          <a:solidFill>
            <a:srgbClr val="EDE9FE"/>
          </a:solidFill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269480" y="1435608"/>
            <a:ext cx="1362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0233F"/>
                </a:solidFill>
              </a:rPr>
              <a:t>DCF / Comps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287768" y="170078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334155"/>
                </a:solidFill>
              </a:rPr>
              <a:t>Public-market valuation outputs</a:t>
            </a:r>
            <a:endParaRPr lang="en-US" sz="720" dirty="0"/>
          </a:p>
        </p:txBody>
      </p:sp>
      <p:sp>
        <p:nvSpPr>
          <p:cNvPr id="23" name="Shape 21"/>
          <p:cNvSpPr/>
          <p:nvPr/>
        </p:nvSpPr>
        <p:spPr>
          <a:xfrm>
            <a:off x="8723376" y="1709928"/>
            <a:ext cx="118872" cy="0"/>
          </a:xfrm>
          <a:prstGeom prst="line">
            <a:avLst/>
          </a:prstGeom>
          <a:noFill/>
          <a:ln w="1397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8869680" y="1325880"/>
            <a:ext cx="1508760" cy="777240"/>
          </a:xfrm>
          <a:prstGeom prst="roundRect">
            <a:avLst>
              <a:gd name="adj" fmla="val 7059"/>
            </a:avLst>
          </a:prstGeom>
          <a:solidFill>
            <a:srgbClr val="EDE9FE"/>
          </a:solidFill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942832" y="1435608"/>
            <a:ext cx="1362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0233F"/>
                </a:solidFill>
              </a:rPr>
              <a:t>LBO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961120" y="170078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334155"/>
                </a:solidFill>
              </a:rPr>
              <a:t>PE sponsor returns and sensitivity</a:t>
            </a:r>
            <a:endParaRPr lang="en-US" sz="720" dirty="0"/>
          </a:p>
        </p:txBody>
      </p:sp>
      <p:sp>
        <p:nvSpPr>
          <p:cNvPr id="27" name="Shape 25"/>
          <p:cNvSpPr/>
          <p:nvPr/>
        </p:nvSpPr>
        <p:spPr>
          <a:xfrm>
            <a:off x="10396728" y="1709928"/>
            <a:ext cx="118872" cy="0"/>
          </a:xfrm>
          <a:prstGeom prst="line">
            <a:avLst/>
          </a:prstGeom>
          <a:noFill/>
          <a:ln w="1397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0543032" y="1325880"/>
            <a:ext cx="1508760" cy="777240"/>
          </a:xfrm>
          <a:prstGeom prst="roundRect">
            <a:avLst>
              <a:gd name="adj" fmla="val 7059"/>
            </a:avLst>
          </a:prstGeom>
          <a:solidFill>
            <a:srgbClr val="DCFCE7"/>
          </a:solidFill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0616184" y="1435608"/>
            <a:ext cx="1362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0233F"/>
                </a:solidFill>
              </a:rPr>
              <a:t>Checks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0634472" y="170078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334155"/>
                </a:solidFill>
              </a:rPr>
              <a:t>Error flags and model integrity</a:t>
            </a:r>
            <a:endParaRPr lang="en-US" sz="720" dirty="0"/>
          </a:p>
        </p:txBody>
      </p:sp>
      <p:sp>
        <p:nvSpPr>
          <p:cNvPr id="31" name="Text 29"/>
          <p:cNvSpPr/>
          <p:nvPr/>
        </p:nvSpPr>
        <p:spPr>
          <a:xfrm>
            <a:off x="594360" y="2606040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b="1" dirty="0">
                <a:solidFill>
                  <a:srgbClr val="10233F"/>
                </a:solidFill>
              </a:rPr>
              <a:t>IMPORTANT MODELING CONVENTIONS</a:t>
            </a:r>
            <a:endParaRPr lang="en-US" sz="730" dirty="0"/>
          </a:p>
        </p:txBody>
      </p:sp>
      <p:sp>
        <p:nvSpPr>
          <p:cNvPr id="32" name="Shape 30"/>
          <p:cNvSpPr/>
          <p:nvPr/>
        </p:nvSpPr>
        <p:spPr>
          <a:xfrm>
            <a:off x="594360" y="2807208"/>
            <a:ext cx="5029200" cy="0"/>
          </a:xfrm>
          <a:prstGeom prst="line">
            <a:avLst/>
          </a:prstGeom>
          <a:noFill/>
          <a:ln w="12700">
            <a:solidFill>
              <a:srgbClr val="1023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85800" y="2898648"/>
            <a:ext cx="4800600" cy="1828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210" dirty="0">
                <a:solidFill>
                  <a:srgbClr val="334155"/>
                </a:solidFill>
              </a:rPr>
              <a:t>Blue font = manually entered input / hardcoded assumption.</a:t>
            </a:r>
            <a:endParaRPr lang="en-US" sz="1210" dirty="0"/>
          </a:p>
          <a:p>
            <a:r>
              <a:rPr lang="en-US" sz="1210" dirty="0">
                <a:solidFill>
                  <a:srgbClr val="334155"/>
                </a:solidFill>
              </a:rPr>
              <a:t>Black font = formula, internal workbook link, or calculated output.</a:t>
            </a:r>
            <a:endParaRPr lang="en-US" sz="1210" dirty="0"/>
          </a:p>
          <a:p>
            <a:r>
              <a:rPr lang="en-US" sz="1210" dirty="0">
                <a:solidFill>
                  <a:srgbClr val="334155"/>
                </a:solidFill>
              </a:rPr>
              <a:t>Financial amounts are generally in $ millions; percentages use 1 decimal; multiples use 0.00x.</a:t>
            </a:r>
            <a:endParaRPr lang="en-US" sz="1210" dirty="0"/>
          </a:p>
          <a:p>
            <a:r>
              <a:rPr lang="en-US" sz="1210" dirty="0">
                <a:solidFill>
                  <a:srgbClr val="334155"/>
                </a:solidFill>
              </a:rPr>
              <a:t>The model uses latest completed fiscal-year comps rather than true LTM due project scope.</a:t>
            </a:r>
            <a:endParaRPr lang="en-US" sz="1210" dirty="0"/>
          </a:p>
        </p:txBody>
      </p:sp>
      <p:sp>
        <p:nvSpPr>
          <p:cNvPr id="34" name="Text 32"/>
          <p:cNvSpPr/>
          <p:nvPr/>
        </p:nvSpPr>
        <p:spPr>
          <a:xfrm>
            <a:off x="6309360" y="2606040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b="1" dirty="0">
                <a:solidFill>
                  <a:srgbClr val="10233F"/>
                </a:solidFill>
              </a:rPr>
              <a:t>WHY THE CHECKS TAB MATTERS</a:t>
            </a:r>
            <a:endParaRPr lang="en-US" sz="730" dirty="0"/>
          </a:p>
        </p:txBody>
      </p:sp>
      <p:sp>
        <p:nvSpPr>
          <p:cNvPr id="35" name="Shape 33"/>
          <p:cNvSpPr/>
          <p:nvPr/>
        </p:nvSpPr>
        <p:spPr>
          <a:xfrm>
            <a:off x="6309360" y="2807208"/>
            <a:ext cx="4937760" cy="0"/>
          </a:xfrm>
          <a:prstGeom prst="line">
            <a:avLst/>
          </a:prstGeom>
          <a:noFill/>
          <a:ln w="12700">
            <a:solidFill>
              <a:srgbClr val="1023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400800" y="2898648"/>
            <a:ext cx="4617720" cy="1691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210" dirty="0">
                <a:solidFill>
                  <a:srgbClr val="334155"/>
                </a:solidFill>
              </a:rPr>
              <a:t>Checks catch errors that are hard to see manually: balance sheet imbalances, cash-flow roll-forward problems, and broken LBO sensitivity links.</a:t>
            </a:r>
            <a:endParaRPr lang="en-US" sz="1210" dirty="0"/>
          </a:p>
          <a:p>
            <a:r>
              <a:rPr lang="en-US" sz="1210" dirty="0">
                <a:solidFill>
                  <a:srgbClr val="334155"/>
                </a:solidFill>
              </a:rPr>
              <a:t>A model can look clean visually but still be wrong mathematically; the Checks tab is the audit layer.</a:t>
            </a:r>
            <a:endParaRPr lang="en-US" sz="1210" dirty="0"/>
          </a:p>
        </p:txBody>
      </p:sp>
      <p:sp>
        <p:nvSpPr>
          <p:cNvPr id="37" name="Shape 35"/>
          <p:cNvSpPr/>
          <p:nvPr/>
        </p:nvSpPr>
        <p:spPr>
          <a:xfrm>
            <a:off x="6355080" y="4956048"/>
            <a:ext cx="4800600" cy="658368"/>
          </a:xfrm>
          <a:prstGeom prst="roundRect">
            <a:avLst>
              <a:gd name="adj" fmla="val 8333"/>
            </a:avLst>
          </a:prstGeom>
          <a:solidFill>
            <a:srgbClr val="E0F2FE"/>
          </a:solidFill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483096" y="5047488"/>
            <a:ext cx="4544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334155"/>
                </a:solidFill>
              </a:rPr>
              <a:t>Pitching note: in a real PE process, the Excel model supports the recommendation, while the presentation tells the investment committee what matters and why.</a:t>
            </a:r>
            <a:endParaRPr lang="en-US" sz="94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Company overview: scaled sporting goods retailer with value-creation levers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13232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Academy is analyzed as a potential public-to-private buyout candidate.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94360" y="117043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b="1" dirty="0">
                <a:solidFill>
                  <a:srgbClr val="10233F"/>
                </a:solidFill>
              </a:rPr>
              <a:t>WHAT THE COMPANY DOES</a:t>
            </a:r>
            <a:endParaRPr lang="en-US" sz="73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4937760" cy="0"/>
          </a:xfrm>
          <a:prstGeom prst="line">
            <a:avLst/>
          </a:prstGeom>
          <a:noFill/>
          <a:ln w="12700">
            <a:solidFill>
              <a:srgbClr val="1023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444752"/>
            <a:ext cx="4754880" cy="1417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240" dirty="0">
                <a:solidFill>
                  <a:srgbClr val="334155"/>
                </a:solidFill>
              </a:rPr>
              <a:t>Sells sporting goods, outdoor equipment, apparel, footwear, and recreation products.</a:t>
            </a:r>
            <a:endParaRPr lang="en-US" sz="1240" dirty="0"/>
          </a:p>
          <a:p>
            <a:r>
              <a:rPr lang="en-US" sz="1240" dirty="0">
                <a:solidFill>
                  <a:srgbClr val="334155"/>
                </a:solidFill>
              </a:rPr>
              <a:t>Retail model ties performance to traffic, product mix, inventory turns, and store productivity.</a:t>
            </a:r>
            <a:endParaRPr lang="en-US" sz="1240" dirty="0"/>
          </a:p>
          <a:p>
            <a:r>
              <a:rPr lang="en-US" sz="1240" dirty="0">
                <a:solidFill>
                  <a:srgbClr val="334155"/>
                </a:solidFill>
              </a:rPr>
              <a:t>Investment case depends on durable demand and disciplined cost control.</a:t>
            </a:r>
            <a:endParaRPr lang="en-US" sz="1240" dirty="0"/>
          </a:p>
        </p:txBody>
      </p:sp>
      <p:sp>
        <p:nvSpPr>
          <p:cNvPr id="7" name="Text 5"/>
          <p:cNvSpPr/>
          <p:nvPr/>
        </p:nvSpPr>
        <p:spPr>
          <a:xfrm>
            <a:off x="6217920" y="1170432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b="1" dirty="0">
                <a:solidFill>
                  <a:srgbClr val="10233F"/>
                </a:solidFill>
              </a:rPr>
              <a:t>WHY PE MIGHT LOOK AT IT</a:t>
            </a:r>
            <a:endParaRPr lang="en-US" sz="730" dirty="0"/>
          </a:p>
        </p:txBody>
      </p:sp>
      <p:sp>
        <p:nvSpPr>
          <p:cNvPr id="8" name="Shape 6"/>
          <p:cNvSpPr/>
          <p:nvPr/>
        </p:nvSpPr>
        <p:spPr>
          <a:xfrm>
            <a:off x="6217920" y="1371600"/>
            <a:ext cx="4983480" cy="0"/>
          </a:xfrm>
          <a:prstGeom prst="line">
            <a:avLst/>
          </a:prstGeom>
          <a:noFill/>
          <a:ln w="12700">
            <a:solidFill>
              <a:srgbClr val="1023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309360" y="1444752"/>
            <a:ext cx="4800600" cy="1417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240" dirty="0">
                <a:solidFill>
                  <a:srgbClr val="334155"/>
                </a:solidFill>
              </a:rPr>
              <a:t>Low starting valuation creates potential upside if operations remain stable.</a:t>
            </a:r>
            <a:endParaRPr lang="en-US" sz="1240" dirty="0"/>
          </a:p>
          <a:p>
            <a:r>
              <a:rPr lang="en-US" sz="1240" dirty="0">
                <a:solidFill>
                  <a:srgbClr val="334155"/>
                </a:solidFill>
              </a:rPr>
              <a:t>Recurring store cash flows can support debt paydown.</a:t>
            </a:r>
            <a:endParaRPr lang="en-US" sz="1240" dirty="0"/>
          </a:p>
          <a:p>
            <a:r>
              <a:rPr lang="en-US" sz="1240" dirty="0">
                <a:solidFill>
                  <a:srgbClr val="334155"/>
                </a:solidFill>
              </a:rPr>
              <a:t>Operational improvements can compound: gross margin, SG&amp;A efficiency, capex discipline, inventory management.</a:t>
            </a:r>
            <a:endParaRPr lang="en-US" sz="1240" dirty="0"/>
          </a:p>
        </p:txBody>
      </p:sp>
      <p:sp>
        <p:nvSpPr>
          <p:cNvPr id="10" name="Shape 8"/>
          <p:cNvSpPr/>
          <p:nvPr/>
        </p:nvSpPr>
        <p:spPr>
          <a:xfrm>
            <a:off x="685800" y="324612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85800" y="3246120"/>
            <a:ext cx="45720" cy="1051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50392" y="3364992"/>
            <a:ext cx="20756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</a:rPr>
              <a:t>2025A Net Sales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50392" y="3602736"/>
            <a:ext cx="2075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33F"/>
                </a:solidFill>
              </a:rPr>
              <a:t>$6.053bn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850392" y="3977640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64748B"/>
                </a:solidFill>
              </a:rPr>
              <a:t>Historical base year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3246120" y="324612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46120" y="3246120"/>
            <a:ext cx="45720" cy="105156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410712" y="3364992"/>
            <a:ext cx="20756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</a:rPr>
              <a:t>2025A EBITDA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410712" y="3602736"/>
            <a:ext cx="2075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33F"/>
                </a:solidFill>
              </a:rPr>
              <a:t>$635.1mm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3410712" y="3977640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64748B"/>
                </a:solidFill>
              </a:rPr>
              <a:t>Comps / LBO entry EBITDA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5806440" y="324612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806440" y="3246120"/>
            <a:ext cx="45720" cy="10515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971032" y="3364992"/>
            <a:ext cx="20756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</a:rPr>
              <a:t>2025A Net Income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971032" y="3602736"/>
            <a:ext cx="2075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33F"/>
                </a:solidFill>
              </a:rPr>
              <a:t>$376.8mm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5971032" y="3977640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64748B"/>
                </a:solidFill>
              </a:rPr>
              <a:t>Profitability base year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8366760" y="324612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366760" y="3246120"/>
            <a:ext cx="45720" cy="10515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531352" y="3364992"/>
            <a:ext cx="20756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</a:rPr>
              <a:t>Current EV/EBITDA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8531352" y="3602736"/>
            <a:ext cx="2075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33F"/>
                </a:solidFill>
              </a:rPr>
              <a:t>4.49x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8531352" y="3977640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64748B"/>
                </a:solidFill>
              </a:rPr>
              <a:t>Academy trading multiple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685800" y="5074920"/>
            <a:ext cx="10332720" cy="640080"/>
          </a:xfrm>
          <a:prstGeom prst="roundRect">
            <a:avLst>
              <a:gd name="adj" fmla="val 8571"/>
            </a:avLst>
          </a:prstGeom>
          <a:solidFill>
            <a:srgbClr val="FEF3C7"/>
          </a:solidFill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13816" y="5166360"/>
            <a:ext cx="100766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334155"/>
                </a:solidFill>
              </a:rPr>
              <a:t>Simple interpretation: the PE thesis is not “the business is perfect.” It is that the business may be under-valued enough that a sponsor can pay a premium, use debt, improve/hold cash flow, and still earn an attractive return.</a:t>
            </a:r>
            <a:endParaRPr lang="en-US" sz="94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19" y="373830"/>
            <a:ext cx="112982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Historical performance: sales stable, profitability compressed from 2023A to 2025A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45506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The historical tab anchors the model before any forecasts or valuation assumptions are layered on.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234440"/>
          <a:ext cx="4617720" cy="242316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38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Metric ($mm)</a:t>
                      </a:r>
                      <a:endParaRPr lang="en-US" sz="85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2023A</a:t>
                      </a:r>
                      <a:endParaRPr lang="en-US" sz="85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2024A</a:t>
                      </a:r>
                      <a:endParaRPr lang="en-US" sz="85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2025A</a:t>
                      </a:r>
                      <a:endParaRPr lang="en-US" sz="85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Net Sales</a:t>
                      </a:r>
                      <a:endParaRPr lang="en-US" sz="85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6,159.291</a:t>
                      </a:r>
                      <a:endParaRPr lang="en-US" sz="85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5,933.450</a:t>
                      </a:r>
                      <a:endParaRPr lang="en-US" sz="85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6,053.414</a:t>
                      </a:r>
                      <a:endParaRPr lang="en-US" sz="85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Operating Income</a:t>
                      </a:r>
                      <a:endParaRPr lang="en-US" sz="85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677.855</a:t>
                      </a:r>
                      <a:endParaRPr lang="en-US" sz="85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538.639</a:t>
                      </a:r>
                      <a:endParaRPr lang="en-US" sz="85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512.184</a:t>
                      </a:r>
                      <a:endParaRPr lang="en-US" sz="85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Net Income</a:t>
                      </a:r>
                      <a:endParaRPr lang="en-US" sz="85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519.190</a:t>
                      </a:r>
                      <a:endParaRPr lang="en-US" sz="85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418.447</a:t>
                      </a:r>
                      <a:endParaRPr lang="en-US" sz="85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376.768</a:t>
                      </a:r>
                      <a:endParaRPr lang="en-US" sz="85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D&amp;A</a:t>
                      </a:r>
                      <a:endParaRPr lang="en-US" sz="85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110.936</a:t>
                      </a:r>
                      <a:endParaRPr lang="en-US" sz="85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118.070</a:t>
                      </a:r>
                      <a:endParaRPr lang="en-US" sz="85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122.866</a:t>
                      </a:r>
                      <a:endParaRPr lang="en-US" sz="85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CapEx</a:t>
                      </a:r>
                      <a:endParaRPr lang="en-US" sz="85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(207.770)</a:t>
                      </a:r>
                      <a:endParaRPr lang="en-US" sz="85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(199.589)</a:t>
                      </a:r>
                      <a:endParaRPr lang="en-US" sz="85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(212.668)</a:t>
                      </a:r>
                      <a:endParaRPr lang="en-US" sz="85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5" name="Chart 0"/>
          <p:cNvGraphicFramePr/>
          <p:nvPr/>
        </p:nvGraphicFramePr>
        <p:xfrm>
          <a:off x="5806440" y="1207008"/>
          <a:ext cx="534924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2"/>
          <p:cNvSpPr/>
          <p:nvPr/>
        </p:nvSpPr>
        <p:spPr>
          <a:xfrm>
            <a:off x="685800" y="416052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b="1" dirty="0">
                <a:solidFill>
                  <a:srgbClr val="10233F"/>
                </a:solidFill>
              </a:rPr>
              <a:t>WHAT THIS MEANS</a:t>
            </a:r>
            <a:endParaRPr lang="en-US" sz="730" dirty="0"/>
          </a:p>
        </p:txBody>
      </p:sp>
      <p:sp>
        <p:nvSpPr>
          <p:cNvPr id="7" name="Shape 3"/>
          <p:cNvSpPr/>
          <p:nvPr/>
        </p:nvSpPr>
        <p:spPr>
          <a:xfrm>
            <a:off x="685800" y="4361688"/>
            <a:ext cx="4754880" cy="0"/>
          </a:xfrm>
          <a:prstGeom prst="line">
            <a:avLst/>
          </a:prstGeom>
          <a:noFill/>
          <a:ln w="12700">
            <a:solidFill>
              <a:srgbClr val="1023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777240" y="4453128"/>
            <a:ext cx="457200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180" dirty="0">
                <a:solidFill>
                  <a:srgbClr val="334155"/>
                </a:solidFill>
              </a:rPr>
              <a:t>Revenue is roughly flat across the historical window, so the forecast cannot rely on unrealistic top-line growth.</a:t>
            </a:r>
            <a:endParaRPr lang="en-US" sz="1180" dirty="0"/>
          </a:p>
          <a:p>
            <a:r>
              <a:rPr lang="en-US" sz="1180" dirty="0">
                <a:solidFill>
                  <a:srgbClr val="334155"/>
                </a:solidFill>
              </a:rPr>
              <a:t>Operating income fell from $678mm to $512mm, which makes margin recovery a key diligence question.</a:t>
            </a:r>
            <a:endParaRPr lang="en-US" sz="1180" dirty="0"/>
          </a:p>
        </p:txBody>
      </p:sp>
      <p:sp>
        <p:nvSpPr>
          <p:cNvPr id="9" name="Text 5"/>
          <p:cNvSpPr/>
          <p:nvPr/>
        </p:nvSpPr>
        <p:spPr>
          <a:xfrm>
            <a:off x="5897880" y="4160520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b="1" dirty="0">
                <a:solidFill>
                  <a:srgbClr val="10233F"/>
                </a:solidFill>
              </a:rPr>
              <a:t>HOW IT CONNECTS TO EXCEL</a:t>
            </a:r>
            <a:endParaRPr lang="en-US" sz="730" dirty="0"/>
          </a:p>
        </p:txBody>
      </p:sp>
      <p:sp>
        <p:nvSpPr>
          <p:cNvPr id="10" name="Shape 6"/>
          <p:cNvSpPr/>
          <p:nvPr/>
        </p:nvSpPr>
        <p:spPr>
          <a:xfrm>
            <a:off x="5897880" y="4361688"/>
            <a:ext cx="4983480" cy="0"/>
          </a:xfrm>
          <a:prstGeom prst="line">
            <a:avLst/>
          </a:prstGeom>
          <a:noFill/>
          <a:ln w="12700">
            <a:solidFill>
              <a:srgbClr val="1023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5989320" y="4453128"/>
            <a:ext cx="475488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180" dirty="0">
                <a:solidFill>
                  <a:srgbClr val="334155"/>
                </a:solidFill>
              </a:rPr>
              <a:t>Historicals feed the Operating Model and 3-Statement forecast.</a:t>
            </a:r>
            <a:endParaRPr lang="en-US" sz="1180" dirty="0"/>
          </a:p>
          <a:p>
            <a:r>
              <a:rPr lang="en-US" sz="1180" dirty="0">
                <a:solidFill>
                  <a:srgbClr val="334155"/>
                </a:solidFill>
              </a:rPr>
              <a:t>The 2025A base year is especially important because DCF, Comps, and LBO all use it as the launch point.</a:t>
            </a:r>
            <a:endParaRPr lang="en-US" sz="11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Forecast: modest sales growth with gradual margin improvement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13232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The operating model turns assumptions into operating income, then the 3-Statement turns that into cash flow and balance-sheet values.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143000"/>
          <a:ext cx="5440680" cy="2423160"/>
        </p:xfrm>
        <a:graphic>
          <a:graphicData uri="http://schemas.openxmlformats.org/drawingml/2006/table">
            <a:tbl>
              <a:tblPr/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38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Forecast ($mm)</a:t>
                      </a:r>
                      <a:endParaRPr lang="en-US" sz="75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2026E</a:t>
                      </a:r>
                      <a:endParaRPr lang="en-US" sz="75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2027E</a:t>
                      </a:r>
                      <a:endParaRPr lang="en-US" sz="75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2028E</a:t>
                      </a:r>
                      <a:endParaRPr lang="en-US" sz="75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2029E</a:t>
                      </a:r>
                      <a:endParaRPr lang="en-US" sz="75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2030E</a:t>
                      </a:r>
                      <a:endParaRPr lang="en-US" sz="75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0F172A"/>
                          </a:solidFill>
                        </a:rPr>
                        <a:t>Net Sales</a:t>
                      </a:r>
                      <a:endParaRPr lang="en-US" sz="75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6,295.6</a:t>
                      </a:r>
                      <a:endParaRPr lang="en-US" sz="75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6,610.3</a:t>
                      </a:r>
                      <a:endParaRPr lang="en-US" sz="75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6,907.8</a:t>
                      </a:r>
                      <a:endParaRPr lang="en-US" sz="75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7,218.6</a:t>
                      </a:r>
                      <a:endParaRPr lang="en-US" sz="75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7,507.4</a:t>
                      </a:r>
                      <a:endParaRPr lang="en-US" sz="75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0F172A"/>
                          </a:solidFill>
                        </a:rPr>
                        <a:t>EBITDA</a:t>
                      </a:r>
                      <a:endParaRPr lang="en-US" sz="75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690.6</a:t>
                      </a:r>
                      <a:endParaRPr lang="en-US" sz="75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746.3</a:t>
                      </a:r>
                      <a:endParaRPr lang="en-US" sz="75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803.0</a:t>
                      </a:r>
                      <a:endParaRPr lang="en-US" sz="75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860.5</a:t>
                      </a:r>
                      <a:endParaRPr lang="en-US" sz="75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901.2</a:t>
                      </a:r>
                      <a:endParaRPr lang="en-US" sz="75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0F172A"/>
                          </a:solidFill>
                        </a:rPr>
                        <a:t>EBITDA Margin</a:t>
                      </a:r>
                      <a:endParaRPr lang="en-US" sz="75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11.0%</a:t>
                      </a:r>
                      <a:endParaRPr lang="en-US" sz="75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11.3%</a:t>
                      </a:r>
                      <a:endParaRPr lang="en-US" sz="75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11.6%</a:t>
                      </a:r>
                      <a:endParaRPr lang="en-US" sz="75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11.9%</a:t>
                      </a:r>
                      <a:endParaRPr lang="en-US" sz="75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12.0%</a:t>
                      </a:r>
                      <a:endParaRPr lang="en-US" sz="75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0F172A"/>
                          </a:solidFill>
                        </a:rPr>
                        <a:t>Operating Income</a:t>
                      </a:r>
                      <a:endParaRPr lang="en-US" sz="75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544.6</a:t>
                      </a:r>
                      <a:endParaRPr lang="en-US" sz="75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581.7</a:t>
                      </a:r>
                      <a:endParaRPr lang="en-US" sz="75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621.7</a:t>
                      </a:r>
                      <a:endParaRPr lang="en-US" sz="75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664.1</a:t>
                      </a:r>
                      <a:endParaRPr lang="en-US" sz="75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690.7</a:t>
                      </a:r>
                      <a:endParaRPr lang="en-US" sz="75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0F172A"/>
                          </a:solidFill>
                        </a:rPr>
                        <a:t>Net Income</a:t>
                      </a:r>
                      <a:endParaRPr lang="en-US" sz="75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402.2</a:t>
                      </a:r>
                      <a:endParaRPr lang="en-US" sz="75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431.6</a:t>
                      </a:r>
                      <a:endParaRPr lang="en-US" sz="75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463.2</a:t>
                      </a:r>
                      <a:endParaRPr lang="en-US" sz="75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496.6</a:t>
                      </a:r>
                      <a:endParaRPr lang="en-US" sz="75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517.7</a:t>
                      </a:r>
                      <a:endParaRPr lang="en-US" sz="75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5" name="Chart 0"/>
          <p:cNvGraphicFramePr/>
          <p:nvPr/>
        </p:nvGraphicFramePr>
        <p:xfrm>
          <a:off x="6446520" y="1143000"/>
          <a:ext cx="4892040" cy="2423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2"/>
          <p:cNvSpPr/>
          <p:nvPr/>
        </p:nvSpPr>
        <p:spPr>
          <a:xfrm>
            <a:off x="685800" y="4041648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b="1" dirty="0">
                <a:solidFill>
                  <a:srgbClr val="10233F"/>
                </a:solidFill>
              </a:rPr>
              <a:t>CORE FORECAST DRIVERS</a:t>
            </a:r>
            <a:endParaRPr lang="en-US" sz="730" dirty="0"/>
          </a:p>
        </p:txBody>
      </p:sp>
      <p:sp>
        <p:nvSpPr>
          <p:cNvPr id="4" name="Shape 3"/>
          <p:cNvSpPr/>
          <p:nvPr/>
        </p:nvSpPr>
        <p:spPr>
          <a:xfrm>
            <a:off x="685800" y="4242816"/>
            <a:ext cx="5120640" cy="0"/>
          </a:xfrm>
          <a:prstGeom prst="line">
            <a:avLst/>
          </a:prstGeom>
          <a:noFill/>
          <a:ln w="12700">
            <a:solidFill>
              <a:srgbClr val="1023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777240" y="4325112"/>
            <a:ext cx="4800600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200" dirty="0">
                <a:solidFill>
                  <a:srgbClr val="334155"/>
                </a:solidFill>
              </a:rPr>
              <a:t>Sales growth ranges from 4.0% to 5.0%.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</a:rPr>
              <a:t>Gross margin increases toward 35.0%.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</a:rPr>
              <a:t>SG&amp;A as % of sales improves slightly, producing operating leverage.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6263640" y="4187952"/>
            <a:ext cx="4937760" cy="1051560"/>
          </a:xfrm>
          <a:prstGeom prst="roundRect">
            <a:avLst>
              <a:gd name="adj" fmla="val 5217"/>
            </a:avLst>
          </a:prstGeom>
          <a:solidFill>
            <a:srgbClr val="E0F2FE"/>
          </a:solidFill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6391656" y="4279392"/>
            <a:ext cx="4681728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334155"/>
                </a:solidFill>
              </a:rPr>
              <a:t>Simple interpretation: if revenue grows moderately and margins recover, EBITDA expands from ~$635mm at entry to ~$901mm by 2030E. That EBITDA growth drives both the DCF and the LBO exit value.</a:t>
            </a:r>
            <a:endParaRPr lang="en-US" sz="9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Cash-flow mechanics: EBITDA becomes debt paydown after capex, taxes, working capital, and interest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20812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This is the bridge that makes the LBO work: cash flow reduces debt, which increases sponsor equity value.</a:t>
            </a:r>
            <a:endParaRPr lang="en-US" sz="10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78992"/>
          <a:ext cx="6080760" cy="3017520"/>
        </p:xfrm>
        <a:graphic>
          <a:graphicData uri="http://schemas.openxmlformats.org/drawingml/2006/table">
            <a:tbl>
              <a:tblPr/>
              <a:tblGrid>
                <a:gridCol w="1508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71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20" b="1" dirty="0">
                          <a:solidFill>
                            <a:srgbClr val="FFFFFF"/>
                          </a:solidFill>
                        </a:rPr>
                        <a:t>LBO Cash Flow ($mm)</a:t>
                      </a:r>
                      <a:endParaRPr lang="en-US" sz="72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20" b="1" dirty="0">
                          <a:solidFill>
                            <a:srgbClr val="FFFFFF"/>
                          </a:solidFill>
                        </a:rPr>
                        <a:t>2026E</a:t>
                      </a:r>
                      <a:endParaRPr lang="en-US" sz="72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20" b="1" dirty="0">
                          <a:solidFill>
                            <a:srgbClr val="FFFFFF"/>
                          </a:solidFill>
                        </a:rPr>
                        <a:t>2027E</a:t>
                      </a:r>
                      <a:endParaRPr lang="en-US" sz="72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20" b="1" dirty="0">
                          <a:solidFill>
                            <a:srgbClr val="FFFFFF"/>
                          </a:solidFill>
                        </a:rPr>
                        <a:t>2028E</a:t>
                      </a:r>
                      <a:endParaRPr lang="en-US" sz="72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20" b="1" dirty="0">
                          <a:solidFill>
                            <a:srgbClr val="FFFFFF"/>
                          </a:solidFill>
                        </a:rPr>
                        <a:t>2029E</a:t>
                      </a:r>
                      <a:endParaRPr lang="en-US" sz="72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20" b="1" dirty="0">
                          <a:solidFill>
                            <a:srgbClr val="FFFFFF"/>
                          </a:solidFill>
                        </a:rPr>
                        <a:t>2030E</a:t>
                      </a:r>
                      <a:endParaRPr lang="en-US" sz="72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20" b="1" dirty="0">
                          <a:solidFill>
                            <a:srgbClr val="0F172A"/>
                          </a:solidFill>
                        </a:rPr>
                        <a:t>EBITDA</a:t>
                      </a:r>
                      <a:endParaRPr lang="en-US" sz="72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20" dirty="0">
                          <a:solidFill>
                            <a:srgbClr val="0F172A"/>
                          </a:solidFill>
                        </a:rPr>
                        <a:t>690.6</a:t>
                      </a:r>
                      <a:endParaRPr lang="en-US" sz="72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20" dirty="0">
                          <a:solidFill>
                            <a:srgbClr val="0F172A"/>
                          </a:solidFill>
                        </a:rPr>
                        <a:t>746.3</a:t>
                      </a:r>
                      <a:endParaRPr lang="en-US" sz="72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20" dirty="0">
                          <a:solidFill>
                            <a:srgbClr val="0F172A"/>
                          </a:solidFill>
                        </a:rPr>
                        <a:t>803.0</a:t>
                      </a:r>
                      <a:endParaRPr lang="en-US" sz="72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20" dirty="0">
                          <a:solidFill>
                            <a:srgbClr val="0F172A"/>
                          </a:solidFill>
                        </a:rPr>
                        <a:t>860.5</a:t>
                      </a:r>
                      <a:endParaRPr lang="en-US" sz="72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20" dirty="0">
                          <a:solidFill>
                            <a:srgbClr val="0F172A"/>
                          </a:solidFill>
                        </a:rPr>
                        <a:t>901.2</a:t>
                      </a:r>
                      <a:endParaRPr lang="en-US" sz="72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20" b="1" dirty="0">
                          <a:solidFill>
                            <a:srgbClr val="0F172A"/>
                          </a:solidFill>
                        </a:rPr>
                        <a:t>CapEx</a:t>
                      </a:r>
                      <a:endParaRPr lang="en-US" sz="72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20" dirty="0">
                          <a:solidFill>
                            <a:srgbClr val="0F172A"/>
                          </a:solidFill>
                        </a:rPr>
                        <a:t>(220.3)</a:t>
                      </a:r>
                      <a:endParaRPr lang="en-US" sz="72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20" dirty="0">
                          <a:solidFill>
                            <a:srgbClr val="0F172A"/>
                          </a:solidFill>
                        </a:rPr>
                        <a:t>(231.4)</a:t>
                      </a:r>
                      <a:endParaRPr lang="en-US" sz="72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20" dirty="0">
                          <a:solidFill>
                            <a:srgbClr val="0F172A"/>
                          </a:solidFill>
                        </a:rPr>
                        <a:t>(241.8)</a:t>
                      </a:r>
                      <a:endParaRPr lang="en-US" sz="72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20" dirty="0">
                          <a:solidFill>
                            <a:srgbClr val="0F172A"/>
                          </a:solidFill>
                        </a:rPr>
                        <a:t>(252.7)</a:t>
                      </a:r>
                      <a:endParaRPr lang="en-US" sz="72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20" dirty="0">
                          <a:solidFill>
                            <a:srgbClr val="0F172A"/>
                          </a:solidFill>
                        </a:rPr>
                        <a:t>(262.8)</a:t>
                      </a:r>
                      <a:endParaRPr lang="en-US" sz="72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20" b="1" dirty="0">
                          <a:solidFill>
                            <a:srgbClr val="0F172A"/>
                          </a:solidFill>
                        </a:rPr>
                        <a:t>Cash Taxes</a:t>
                      </a:r>
                      <a:endParaRPr lang="en-US" sz="72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20" dirty="0">
                          <a:solidFill>
                            <a:srgbClr val="0F172A"/>
                          </a:solidFill>
                        </a:rPr>
                        <a:t>(76.7)</a:t>
                      </a:r>
                      <a:endParaRPr lang="en-US" sz="72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20" dirty="0">
                          <a:solidFill>
                            <a:srgbClr val="0F172A"/>
                          </a:solidFill>
                        </a:rPr>
                        <a:t>(87.9)</a:t>
                      </a:r>
                      <a:endParaRPr lang="en-US" sz="72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20" dirty="0">
                          <a:solidFill>
                            <a:srgbClr val="0F172A"/>
                          </a:solidFill>
                        </a:rPr>
                        <a:t>(100.8)</a:t>
                      </a:r>
                      <a:endParaRPr lang="en-US" sz="72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20" dirty="0">
                          <a:solidFill>
                            <a:srgbClr val="0F172A"/>
                          </a:solidFill>
                        </a:rPr>
                        <a:t>(115.0)</a:t>
                      </a:r>
                      <a:endParaRPr lang="en-US" sz="72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20" dirty="0">
                          <a:solidFill>
                            <a:srgbClr val="0F172A"/>
                          </a:solidFill>
                        </a:rPr>
                        <a:t>(126.7)</a:t>
                      </a:r>
                      <a:endParaRPr lang="en-US" sz="72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20" b="1" dirty="0">
                          <a:solidFill>
                            <a:srgbClr val="0F172A"/>
                          </a:solidFill>
                        </a:rPr>
                        <a:t>Change in NWC</a:t>
                      </a:r>
                      <a:endParaRPr lang="en-US" sz="72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20" dirty="0">
                          <a:solidFill>
                            <a:srgbClr val="0F172A"/>
                          </a:solidFill>
                        </a:rPr>
                        <a:t>(13.7)</a:t>
                      </a:r>
                      <a:endParaRPr lang="en-US" sz="72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20" dirty="0">
                          <a:solidFill>
                            <a:srgbClr val="0F172A"/>
                          </a:solidFill>
                        </a:rPr>
                        <a:t>(5.1)</a:t>
                      </a:r>
                      <a:endParaRPr lang="en-US" sz="72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20" dirty="0">
                          <a:solidFill>
                            <a:srgbClr val="0F172A"/>
                          </a:solidFill>
                        </a:rPr>
                        <a:t>(0.7)</a:t>
                      </a:r>
                      <a:endParaRPr lang="en-US" sz="72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20" dirty="0">
                          <a:solidFill>
                            <a:srgbClr val="0F172A"/>
                          </a:solidFill>
                        </a:rPr>
                        <a:t>0.8</a:t>
                      </a:r>
                      <a:endParaRPr lang="en-US" sz="72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20" dirty="0">
                          <a:solidFill>
                            <a:srgbClr val="0F172A"/>
                          </a:solidFill>
                        </a:rPr>
                        <a:t>(30.3)</a:t>
                      </a:r>
                      <a:endParaRPr lang="en-US" sz="72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20" b="1" dirty="0">
                          <a:solidFill>
                            <a:srgbClr val="0F172A"/>
                          </a:solidFill>
                        </a:rPr>
                        <a:t>Cash Before Interest</a:t>
                      </a:r>
                      <a:endParaRPr lang="en-US" sz="72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20" dirty="0">
                          <a:solidFill>
                            <a:srgbClr val="0F172A"/>
                          </a:solidFill>
                        </a:rPr>
                        <a:t>379.8</a:t>
                      </a:r>
                      <a:endParaRPr lang="en-US" sz="72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20" dirty="0">
                          <a:solidFill>
                            <a:srgbClr val="0F172A"/>
                          </a:solidFill>
                        </a:rPr>
                        <a:t>421.9</a:t>
                      </a:r>
                      <a:endParaRPr lang="en-US" sz="72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20" dirty="0">
                          <a:solidFill>
                            <a:srgbClr val="0F172A"/>
                          </a:solidFill>
                        </a:rPr>
                        <a:t>459.8</a:t>
                      </a:r>
                      <a:endParaRPr lang="en-US" sz="72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20" dirty="0">
                          <a:solidFill>
                            <a:srgbClr val="0F172A"/>
                          </a:solidFill>
                        </a:rPr>
                        <a:t>493.6</a:t>
                      </a:r>
                      <a:endParaRPr lang="en-US" sz="72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20" dirty="0">
                          <a:solidFill>
                            <a:srgbClr val="0F172A"/>
                          </a:solidFill>
                        </a:rPr>
                        <a:t>481.4</a:t>
                      </a:r>
                      <a:endParaRPr lang="en-US" sz="72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20" b="1" dirty="0">
                          <a:solidFill>
                            <a:srgbClr val="0F172A"/>
                          </a:solidFill>
                        </a:rPr>
                        <a:t>Cash Interest</a:t>
                      </a:r>
                      <a:endParaRPr lang="en-US" sz="72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20" dirty="0">
                          <a:solidFill>
                            <a:srgbClr val="0F172A"/>
                          </a:solidFill>
                        </a:rPr>
                        <a:t>(214.3)</a:t>
                      </a:r>
                      <a:endParaRPr lang="en-US" sz="72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20" dirty="0">
                          <a:solidFill>
                            <a:srgbClr val="0F172A"/>
                          </a:solidFill>
                        </a:rPr>
                        <a:t>(201.9)</a:t>
                      </a:r>
                      <a:endParaRPr lang="en-US" sz="72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20" dirty="0">
                          <a:solidFill>
                            <a:srgbClr val="0F172A"/>
                          </a:solidFill>
                        </a:rPr>
                        <a:t>(185.4)</a:t>
                      </a:r>
                      <a:endParaRPr lang="en-US" sz="72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20" dirty="0">
                          <a:solidFill>
                            <a:srgbClr val="0F172A"/>
                          </a:solidFill>
                        </a:rPr>
                        <a:t>(164.8)</a:t>
                      </a:r>
                      <a:endParaRPr lang="en-US" sz="72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20" dirty="0">
                          <a:solidFill>
                            <a:srgbClr val="0F172A"/>
                          </a:solidFill>
                        </a:rPr>
                        <a:t>(140.2)</a:t>
                      </a:r>
                      <a:endParaRPr lang="en-US" sz="72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20" b="1" dirty="0">
                          <a:solidFill>
                            <a:srgbClr val="0F172A"/>
                          </a:solidFill>
                        </a:rPr>
                        <a:t>Debt Paydown</a:t>
                      </a:r>
                      <a:endParaRPr lang="en-US" sz="72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20" dirty="0">
                          <a:solidFill>
                            <a:srgbClr val="0F172A"/>
                          </a:solidFill>
                        </a:rPr>
                        <a:t>(165.5)</a:t>
                      </a:r>
                      <a:endParaRPr lang="en-US" sz="72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20" dirty="0">
                          <a:solidFill>
                            <a:srgbClr val="0F172A"/>
                          </a:solidFill>
                        </a:rPr>
                        <a:t>(220.0)</a:t>
                      </a:r>
                      <a:endParaRPr lang="en-US" sz="72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20" dirty="0">
                          <a:solidFill>
                            <a:srgbClr val="0F172A"/>
                          </a:solidFill>
                        </a:rPr>
                        <a:t>(274.4)</a:t>
                      </a:r>
                      <a:endParaRPr lang="en-US" sz="72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20" dirty="0">
                          <a:solidFill>
                            <a:srgbClr val="0F172A"/>
                          </a:solidFill>
                        </a:rPr>
                        <a:t>(328.8)</a:t>
                      </a:r>
                      <a:endParaRPr lang="en-US" sz="72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20" dirty="0">
                          <a:solidFill>
                            <a:srgbClr val="0F172A"/>
                          </a:solidFill>
                        </a:rPr>
                        <a:t>(341.2)</a:t>
                      </a:r>
                      <a:endParaRPr lang="en-US" sz="72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" name="Chart 0"/>
          <p:cNvGraphicFramePr/>
          <p:nvPr/>
        </p:nvGraphicFramePr>
        <p:xfrm>
          <a:off x="7543800" y="1188720"/>
          <a:ext cx="3886200" cy="2240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2"/>
          <p:cNvSpPr/>
          <p:nvPr/>
        </p:nvSpPr>
        <p:spPr>
          <a:xfrm>
            <a:off x="7543800" y="374904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3"/>
          <p:cNvSpPr/>
          <p:nvPr/>
        </p:nvSpPr>
        <p:spPr>
          <a:xfrm>
            <a:off x="7543800" y="3749040"/>
            <a:ext cx="45720" cy="914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4"/>
          <p:cNvSpPr/>
          <p:nvPr/>
        </p:nvSpPr>
        <p:spPr>
          <a:xfrm>
            <a:off x="7708392" y="3867912"/>
            <a:ext cx="14813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</a:rPr>
              <a:t>Initial Debt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7708392" y="4105656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33F"/>
                </a:solidFill>
              </a:rPr>
              <a:t>$2.858bn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7708392" y="439449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64748B"/>
                </a:solidFill>
              </a:rPr>
              <a:t>4.50x EBITDA</a:t>
            </a:r>
            <a:endParaRPr lang="en-US" sz="820" dirty="0"/>
          </a:p>
        </p:txBody>
      </p:sp>
      <p:sp>
        <p:nvSpPr>
          <p:cNvPr id="11" name="Shape 7"/>
          <p:cNvSpPr/>
          <p:nvPr/>
        </p:nvSpPr>
        <p:spPr>
          <a:xfrm>
            <a:off x="9464040" y="374904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9464040" y="3749040"/>
            <a:ext cx="45720" cy="9144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9628632" y="3867912"/>
            <a:ext cx="14813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</a:rPr>
              <a:t>2030 Debt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9628632" y="4105656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33F"/>
                </a:solidFill>
              </a:rPr>
              <a:t>$1.528bn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9628632" y="439449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64748B"/>
                </a:solidFill>
              </a:rPr>
              <a:t>After cash sweep</a:t>
            </a:r>
            <a:endParaRPr lang="en-US" sz="820" dirty="0"/>
          </a:p>
        </p:txBody>
      </p:sp>
      <p:sp>
        <p:nvSpPr>
          <p:cNvPr id="16" name="Shape 12"/>
          <p:cNvSpPr/>
          <p:nvPr/>
        </p:nvSpPr>
        <p:spPr>
          <a:xfrm>
            <a:off x="594360" y="4800600"/>
            <a:ext cx="10652760" cy="713232"/>
          </a:xfrm>
          <a:prstGeom prst="roundRect">
            <a:avLst>
              <a:gd name="adj" fmla="val 7692"/>
            </a:avLst>
          </a:prstGeom>
          <a:solidFill>
            <a:srgbClr val="FEF3C7"/>
          </a:solidFill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722376" y="4892040"/>
            <a:ext cx="10396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334155"/>
                </a:solidFill>
              </a:rPr>
              <a:t>Note: The LBO uses a new acquisition debt balance, so it must calculate its own interest and taxes. We fixed this so taxes reflect the larger LBO interest deduction instead of the original 3-Statement debt structure.</a:t>
            </a:r>
            <a:endParaRPr lang="en-US" sz="9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Valuation summary: DCF and comps suggest material upside versus current price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13232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This page connects the public-market valuation work to the buyout case.</a:t>
            </a:r>
            <a:endParaRPr lang="en-US" sz="10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97280"/>
          <a:ext cx="5577840" cy="2880360"/>
        </p:xfrm>
        <a:graphic>
          <a:graphicData uri="http://schemas.openxmlformats.org/drawingml/2006/table">
            <a:tbl>
              <a:tblPr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</a:rPr>
                        <a:t>Method</a:t>
                      </a:r>
                      <a:endParaRPr lang="en-US" sz="83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</a:rPr>
                        <a:t>Implied Share Price</a:t>
                      </a:r>
                      <a:endParaRPr lang="en-US" sz="83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</a:rPr>
                        <a:t>Interpretation</a:t>
                      </a:r>
                      <a:endParaRPr lang="en-US" sz="83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30" b="1" dirty="0">
                          <a:solidFill>
                            <a:srgbClr val="0F172A"/>
                          </a:solidFill>
                        </a:rPr>
                        <a:t>Current Share Price</a:t>
                      </a:r>
                      <a:endParaRPr lang="en-US" sz="83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30" dirty="0">
                          <a:solidFill>
                            <a:srgbClr val="0F172A"/>
                          </a:solidFill>
                        </a:rPr>
                        <a:t>$43.54</a:t>
                      </a:r>
                      <a:endParaRPr lang="en-US" sz="83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30" dirty="0">
                          <a:solidFill>
                            <a:srgbClr val="0F172A"/>
                          </a:solidFill>
                        </a:rPr>
                        <a:t>Market reference</a:t>
                      </a:r>
                      <a:endParaRPr lang="en-US" sz="83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30" b="1" dirty="0">
                          <a:solidFill>
                            <a:srgbClr val="0F172A"/>
                          </a:solidFill>
                        </a:rPr>
                        <a:t>DCF</a:t>
                      </a:r>
                      <a:endParaRPr lang="en-US" sz="83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30" dirty="0">
                          <a:solidFill>
                            <a:srgbClr val="0F172A"/>
                          </a:solidFill>
                        </a:rPr>
                        <a:t>$102.96</a:t>
                      </a:r>
                      <a:endParaRPr lang="en-US" sz="83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30" dirty="0">
                          <a:solidFill>
                            <a:srgbClr val="0F172A"/>
                          </a:solidFill>
                        </a:rPr>
                        <a:t>Intrinsic cash-flow valuation</a:t>
                      </a:r>
                      <a:endParaRPr lang="en-US" sz="83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30" b="1" dirty="0">
                          <a:solidFill>
                            <a:srgbClr val="0F172A"/>
                          </a:solidFill>
                        </a:rPr>
                        <a:t>EV / Revenue Comps</a:t>
                      </a:r>
                      <a:endParaRPr lang="en-US" sz="83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30" dirty="0">
                          <a:solidFill>
                            <a:srgbClr val="0F172A"/>
                          </a:solidFill>
                        </a:rPr>
                        <a:t>$66.42</a:t>
                      </a:r>
                      <a:endParaRPr lang="en-US" sz="83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30" dirty="0">
                          <a:solidFill>
                            <a:srgbClr val="0F172A"/>
                          </a:solidFill>
                        </a:rPr>
                        <a:t>Low-end trading comp approach</a:t>
                      </a:r>
                      <a:endParaRPr lang="en-US" sz="83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30" b="1" dirty="0">
                          <a:solidFill>
                            <a:srgbClr val="0F172A"/>
                          </a:solidFill>
                        </a:rPr>
                        <a:t>EV / EBITDA Comps</a:t>
                      </a:r>
                      <a:endParaRPr lang="en-US" sz="83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30" dirty="0">
                          <a:solidFill>
                            <a:srgbClr val="0F172A"/>
                          </a:solidFill>
                        </a:rPr>
                        <a:t>$101.61</a:t>
                      </a:r>
                      <a:endParaRPr lang="en-US" sz="83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30" dirty="0">
                          <a:solidFill>
                            <a:srgbClr val="0F172A"/>
                          </a:solidFill>
                        </a:rPr>
                        <a:t>Operating-cash-flow comp approach</a:t>
                      </a:r>
                      <a:endParaRPr lang="en-US" sz="83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30" b="1" dirty="0">
                          <a:solidFill>
                            <a:srgbClr val="0F172A"/>
                          </a:solidFill>
                        </a:rPr>
                        <a:t>P/E Comps</a:t>
                      </a:r>
                      <a:endParaRPr lang="en-US" sz="83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30" dirty="0">
                          <a:solidFill>
                            <a:srgbClr val="0F172A"/>
                          </a:solidFill>
                        </a:rPr>
                        <a:t>$92.39</a:t>
                      </a:r>
                      <a:endParaRPr lang="en-US" sz="83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30" dirty="0">
                          <a:solidFill>
                            <a:srgbClr val="0F172A"/>
                          </a:solidFill>
                        </a:rPr>
                        <a:t>Earnings comp approach</a:t>
                      </a:r>
                      <a:endParaRPr lang="en-US" sz="83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30" b="1" dirty="0">
                          <a:solidFill>
                            <a:srgbClr val="0F172A"/>
                          </a:solidFill>
                        </a:rPr>
                        <a:t>Comps Average</a:t>
                      </a:r>
                      <a:endParaRPr lang="en-US" sz="83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30" dirty="0">
                          <a:solidFill>
                            <a:srgbClr val="0F172A"/>
                          </a:solidFill>
                        </a:rPr>
                        <a:t>$86.81</a:t>
                      </a:r>
                      <a:endParaRPr lang="en-US" sz="83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30" dirty="0">
                          <a:solidFill>
                            <a:srgbClr val="0F172A"/>
                          </a:solidFill>
                        </a:rPr>
                        <a:t>Mean of selected comp methods</a:t>
                      </a:r>
                      <a:endParaRPr lang="en-US" sz="83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5" name="Chart 0"/>
          <p:cNvGraphicFramePr/>
          <p:nvPr/>
        </p:nvGraphicFramePr>
        <p:xfrm>
          <a:off x="6583680" y="1097280"/>
          <a:ext cx="466344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2"/>
          <p:cNvSpPr/>
          <p:nvPr/>
        </p:nvSpPr>
        <p:spPr>
          <a:xfrm>
            <a:off x="685800" y="4434840"/>
            <a:ext cx="5074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b="1" dirty="0">
                <a:solidFill>
                  <a:srgbClr val="10233F"/>
                </a:solidFill>
              </a:rPr>
              <a:t>HOW TO INTERPRET IT</a:t>
            </a:r>
            <a:endParaRPr lang="en-US" sz="730" dirty="0"/>
          </a:p>
        </p:txBody>
      </p:sp>
      <p:sp>
        <p:nvSpPr>
          <p:cNvPr id="7" name="Shape 3"/>
          <p:cNvSpPr/>
          <p:nvPr/>
        </p:nvSpPr>
        <p:spPr>
          <a:xfrm>
            <a:off x="685800" y="4636008"/>
            <a:ext cx="5074920" cy="0"/>
          </a:xfrm>
          <a:prstGeom prst="line">
            <a:avLst/>
          </a:prstGeom>
          <a:noFill/>
          <a:ln w="12700">
            <a:solidFill>
              <a:srgbClr val="1023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777240" y="4709160"/>
            <a:ext cx="4754880" cy="10241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200" dirty="0">
                <a:solidFill>
                  <a:srgbClr val="334155"/>
                </a:solidFill>
              </a:rPr>
              <a:t>DCF is highest because forecast free cash flow and terminal value produce a larger equity value.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</a:rPr>
              <a:t>Comps are a market-based cross-check, not a perfect answer.</a:t>
            </a:r>
            <a:endParaRPr lang="en-US" sz="1200" dirty="0"/>
          </a:p>
        </p:txBody>
      </p:sp>
      <p:sp>
        <p:nvSpPr>
          <p:cNvPr id="4" name="Text 5"/>
          <p:cNvSpPr/>
          <p:nvPr/>
        </p:nvSpPr>
        <p:spPr>
          <a:xfrm>
            <a:off x="6217920" y="4434840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b="1" dirty="0">
                <a:solidFill>
                  <a:srgbClr val="10233F"/>
                </a:solidFill>
              </a:rPr>
              <a:t>PITCH TAKEAWAY</a:t>
            </a:r>
            <a:endParaRPr lang="en-US" sz="730" dirty="0"/>
          </a:p>
        </p:txBody>
      </p:sp>
      <p:sp>
        <p:nvSpPr>
          <p:cNvPr id="10" name="Shape 6"/>
          <p:cNvSpPr/>
          <p:nvPr/>
        </p:nvSpPr>
        <p:spPr>
          <a:xfrm>
            <a:off x="6217920" y="4636008"/>
            <a:ext cx="4983480" cy="0"/>
          </a:xfrm>
          <a:prstGeom prst="line">
            <a:avLst/>
          </a:prstGeom>
          <a:noFill/>
          <a:ln w="12700">
            <a:solidFill>
              <a:srgbClr val="1023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6309360" y="4709160"/>
            <a:ext cx="4663440" cy="10241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200" dirty="0">
                <a:solidFill>
                  <a:srgbClr val="334155"/>
                </a:solidFill>
              </a:rPr>
              <a:t>If valuation work is directionally right, a buyer can pay a takeover premium and still have room for attractive returns.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</a:rPr>
              <a:t>Final decision still depends on diligence, not valuation math alone.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DCF valuation: value is driven by forecast free cash flow and terminal value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13232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DCF answers: what is Academy worth based on the cash it can generate in the future?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2103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94360" y="1078992"/>
            <a:ext cx="45720" cy="960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58952" y="1197864"/>
            <a:ext cx="18470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</a:rPr>
              <a:t>WACC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58952" y="1435608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33F"/>
                </a:solidFill>
              </a:rPr>
              <a:t>8.7%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58952" y="172444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64748B"/>
                </a:solidFill>
              </a:rPr>
              <a:t>Discount rate for UFCF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2862072" y="1078992"/>
            <a:ext cx="2103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862072" y="1078992"/>
            <a:ext cx="45720" cy="96012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026664" y="1197864"/>
            <a:ext cx="18470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</a:rPr>
              <a:t>Terminal Growth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026664" y="1435608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33F"/>
                </a:solidFill>
              </a:rPr>
              <a:t>2.5%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3026664" y="172444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64748B"/>
                </a:solidFill>
              </a:rPr>
              <a:t>Long-term growth assumption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5129784" y="1078992"/>
            <a:ext cx="2103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129784" y="1078992"/>
            <a:ext cx="45720" cy="9601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294376" y="1197864"/>
            <a:ext cx="18470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</a:rPr>
              <a:t>Enterprise Value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294376" y="1435608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33F"/>
                </a:solidFill>
              </a:rPr>
              <a:t>$6.539bn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5294376" y="172444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64748B"/>
                </a:solidFill>
              </a:rPr>
              <a:t>PV of UFCF + terminal value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7397496" y="1078992"/>
            <a:ext cx="2103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397496" y="1078992"/>
            <a:ext cx="45720" cy="9601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562088" y="1197864"/>
            <a:ext cx="18470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</a:rPr>
              <a:t>Equity Value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562088" y="1435608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33F"/>
                </a:solidFill>
              </a:rPr>
              <a:t>$6.386bn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7562088" y="172444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64748B"/>
                </a:solidFill>
              </a:rPr>
              <a:t>EV less debt plus cash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9665208" y="1078992"/>
            <a:ext cx="2103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9665208" y="1078992"/>
            <a:ext cx="45720" cy="9601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829800" y="1197864"/>
            <a:ext cx="18470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</a:rPr>
              <a:t>Implied Price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829800" y="1435608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33F"/>
                </a:solidFill>
              </a:rPr>
              <a:t>$102.96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9829800" y="172444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64748B"/>
                </a:solidFill>
              </a:rPr>
              <a:t>Equity value / shares</a:t>
            </a:r>
            <a:endParaRPr lang="en-US" sz="82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560320"/>
          <a:ext cx="5349240" cy="1097280"/>
        </p:xfrm>
        <a:graphic>
          <a:graphicData uri="http://schemas.openxmlformats.org/drawingml/2006/table">
            <a:tbl>
              <a:tblPr/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60" b="1" dirty="0">
                          <a:solidFill>
                            <a:srgbClr val="FFFFFF"/>
                          </a:solidFill>
                        </a:rPr>
                        <a:t>UFCF ($mm)</a:t>
                      </a:r>
                      <a:endParaRPr lang="en-US" sz="76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60" b="1" dirty="0">
                          <a:solidFill>
                            <a:srgbClr val="FFFFFF"/>
                          </a:solidFill>
                        </a:rPr>
                        <a:t>2026E</a:t>
                      </a:r>
                      <a:endParaRPr lang="en-US" sz="76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60" b="1" dirty="0">
                          <a:solidFill>
                            <a:srgbClr val="FFFFFF"/>
                          </a:solidFill>
                        </a:rPr>
                        <a:t>2027E</a:t>
                      </a:r>
                      <a:endParaRPr lang="en-US" sz="76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60" b="1" dirty="0">
                          <a:solidFill>
                            <a:srgbClr val="FFFFFF"/>
                          </a:solidFill>
                        </a:rPr>
                        <a:t>2028E</a:t>
                      </a:r>
                      <a:endParaRPr lang="en-US" sz="76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60" b="1" dirty="0">
                          <a:solidFill>
                            <a:srgbClr val="FFFFFF"/>
                          </a:solidFill>
                        </a:rPr>
                        <a:t>2029E</a:t>
                      </a:r>
                      <a:endParaRPr lang="en-US" sz="76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60" b="1" dirty="0">
                          <a:solidFill>
                            <a:srgbClr val="FFFFFF"/>
                          </a:solidFill>
                        </a:rPr>
                        <a:t>2030E</a:t>
                      </a:r>
                      <a:endParaRPr lang="en-US" sz="76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60" b="1" dirty="0">
                          <a:solidFill>
                            <a:srgbClr val="0F172A"/>
                          </a:solidFill>
                        </a:rPr>
                        <a:t>Unlevered FCF</a:t>
                      </a:r>
                      <a:endParaRPr lang="en-US" sz="76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60" dirty="0">
                          <a:solidFill>
                            <a:srgbClr val="0F172A"/>
                          </a:solidFill>
                        </a:rPr>
                        <a:t>336.9</a:t>
                      </a:r>
                      <a:endParaRPr lang="en-US" sz="76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60" dirty="0">
                          <a:solidFill>
                            <a:srgbClr val="0F172A"/>
                          </a:solidFill>
                        </a:rPr>
                        <a:t>378.9</a:t>
                      </a:r>
                      <a:endParaRPr lang="en-US" sz="76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60" dirty="0">
                          <a:solidFill>
                            <a:srgbClr val="0F172A"/>
                          </a:solidFill>
                        </a:rPr>
                        <a:t>420.7</a:t>
                      </a:r>
                      <a:endParaRPr lang="en-US" sz="76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60" dirty="0">
                          <a:solidFill>
                            <a:srgbClr val="0F172A"/>
                          </a:solidFill>
                        </a:rPr>
                        <a:t>459.2</a:t>
                      </a:r>
                      <a:endParaRPr lang="en-US" sz="76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60" dirty="0">
                          <a:solidFill>
                            <a:srgbClr val="0F172A"/>
                          </a:solidFill>
                        </a:rPr>
                        <a:t>452.7</a:t>
                      </a:r>
                      <a:endParaRPr lang="en-US" sz="76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60" b="1" dirty="0">
                          <a:solidFill>
                            <a:srgbClr val="0F172A"/>
                          </a:solidFill>
                        </a:rPr>
                        <a:t>PV of UFCF</a:t>
                      </a:r>
                      <a:endParaRPr lang="en-US" sz="76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60" dirty="0">
                          <a:solidFill>
                            <a:srgbClr val="0F172A"/>
                          </a:solidFill>
                        </a:rPr>
                        <a:t>310.0</a:t>
                      </a:r>
                      <a:endParaRPr lang="en-US" sz="76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60" dirty="0">
                          <a:solidFill>
                            <a:srgbClr val="0F172A"/>
                          </a:solidFill>
                        </a:rPr>
                        <a:t>320.8</a:t>
                      </a:r>
                      <a:endParaRPr lang="en-US" sz="76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60" dirty="0">
                          <a:solidFill>
                            <a:srgbClr val="0F172A"/>
                          </a:solidFill>
                        </a:rPr>
                        <a:t>327.7</a:t>
                      </a:r>
                      <a:endParaRPr lang="en-US" sz="76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60" dirty="0">
                          <a:solidFill>
                            <a:srgbClr val="0F172A"/>
                          </a:solidFill>
                        </a:rPr>
                        <a:t>329.2</a:t>
                      </a:r>
                      <a:endParaRPr lang="en-US" sz="76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60" dirty="0">
                          <a:solidFill>
                            <a:srgbClr val="0F172A"/>
                          </a:solidFill>
                        </a:rPr>
                        <a:t>298.6</a:t>
                      </a:r>
                      <a:endParaRPr lang="en-US" sz="76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0" name="Chart 0"/>
          <p:cNvGraphicFramePr/>
          <p:nvPr/>
        </p:nvGraphicFramePr>
        <p:xfrm>
          <a:off x="6446520" y="2377440"/>
          <a:ext cx="4709160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1" name="Shape 27"/>
          <p:cNvSpPr/>
          <p:nvPr/>
        </p:nvSpPr>
        <p:spPr>
          <a:xfrm>
            <a:off x="731520" y="4800600"/>
            <a:ext cx="10332720" cy="749808"/>
          </a:xfrm>
          <a:prstGeom prst="roundRect">
            <a:avLst>
              <a:gd name="adj" fmla="val 7317"/>
            </a:avLst>
          </a:prstGeom>
          <a:solidFill>
            <a:srgbClr val="E0F2FE"/>
          </a:solidFill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8"/>
          <p:cNvSpPr/>
          <p:nvPr/>
        </p:nvSpPr>
        <p:spPr>
          <a:xfrm>
            <a:off x="859536" y="4892040"/>
            <a:ext cx="100766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334155"/>
                </a:solidFill>
              </a:rPr>
              <a:t>Enterprise Value = present value of forecast free cash flow + present value of terminal value. Equity Value = Enterprise Value − Debt + Cash. Implied Share Price = Equity Value / diluted shares.</a:t>
            </a:r>
            <a:endParaRPr lang="en-US" sz="94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Trading comps: Academy trades below the peer median EV/EBITDA multiple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13232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Comps compare Academy to similar public companies using market valuation multiples.</a:t>
            </a:r>
            <a:endParaRPr lang="en-US" sz="10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97280"/>
          <a:ext cx="4572000" cy="2834643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494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</a:rPr>
                        <a:t>Company</a:t>
                      </a:r>
                      <a:endParaRPr lang="en-US" sz="82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</a:rPr>
                        <a:t>EV/Rev</a:t>
                      </a:r>
                      <a:endParaRPr lang="en-US" sz="82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</a:rPr>
                        <a:t>EV/EBITDA</a:t>
                      </a:r>
                      <a:endParaRPr lang="en-US" sz="82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</a:rPr>
                        <a:t>P/E</a:t>
                      </a:r>
                      <a:endParaRPr lang="en-US" sz="82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94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20" b="1" dirty="0">
                          <a:solidFill>
                            <a:srgbClr val="0F172A"/>
                          </a:solidFill>
                        </a:rPr>
                        <a:t>Academy</a:t>
                      </a:r>
                      <a:endParaRPr lang="en-US" sz="82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20" dirty="0">
                          <a:solidFill>
                            <a:srgbClr val="0F172A"/>
                          </a:solidFill>
                        </a:rPr>
                        <a:t>0.47x</a:t>
                      </a:r>
                      <a:endParaRPr lang="en-US" sz="82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20" dirty="0">
                          <a:solidFill>
                            <a:srgbClr val="0F172A"/>
                          </a:solidFill>
                        </a:rPr>
                        <a:t>4.49x</a:t>
                      </a:r>
                      <a:endParaRPr lang="en-US" sz="82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20" dirty="0">
                          <a:solidFill>
                            <a:srgbClr val="0F172A"/>
                          </a:solidFill>
                        </a:rPr>
                        <a:t>7.17x</a:t>
                      </a:r>
                      <a:endParaRPr lang="en-US" sz="82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494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20" b="1" dirty="0">
                          <a:solidFill>
                            <a:srgbClr val="0F172A"/>
                          </a:solidFill>
                        </a:rPr>
                        <a:t>DICK'S</a:t>
                      </a:r>
                      <a:endParaRPr lang="en-US" sz="82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20" dirty="0">
                          <a:solidFill>
                            <a:srgbClr val="0F172A"/>
                          </a:solidFill>
                        </a:rPr>
                        <a:t>0.71x</a:t>
                      </a:r>
                      <a:endParaRPr lang="en-US" sz="82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20" dirty="0">
                          <a:solidFill>
                            <a:srgbClr val="0F172A"/>
                          </a:solidFill>
                        </a:rPr>
                        <a:t>7.67x</a:t>
                      </a:r>
                      <a:endParaRPr lang="en-US" sz="82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20" dirty="0">
                          <a:solidFill>
                            <a:srgbClr val="0F172A"/>
                          </a:solidFill>
                        </a:rPr>
                        <a:t>13.66x</a:t>
                      </a:r>
                      <a:endParaRPr lang="en-US" sz="82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494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20" b="1" dirty="0">
                          <a:solidFill>
                            <a:srgbClr val="0F172A"/>
                          </a:solidFill>
                        </a:rPr>
                        <a:t>Boot Barn</a:t>
                      </a:r>
                      <a:endParaRPr lang="en-US" sz="82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20" dirty="0">
                          <a:solidFill>
                            <a:srgbClr val="0F172A"/>
                          </a:solidFill>
                        </a:rPr>
                        <a:t>2.10x</a:t>
                      </a:r>
                      <a:endParaRPr lang="en-US" sz="82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20" dirty="0">
                          <a:solidFill>
                            <a:srgbClr val="0F172A"/>
                          </a:solidFill>
                        </a:rPr>
                        <a:t>12.52x</a:t>
                      </a:r>
                      <a:endParaRPr lang="en-US" sz="82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20" dirty="0">
                          <a:solidFill>
                            <a:srgbClr val="0F172A"/>
                          </a:solidFill>
                        </a:rPr>
                        <a:t>21.56x</a:t>
                      </a:r>
                      <a:endParaRPr lang="en-US" sz="82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494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20" b="1" dirty="0">
                          <a:solidFill>
                            <a:srgbClr val="0F172A"/>
                          </a:solidFill>
                        </a:rPr>
                        <a:t>Sportsman's</a:t>
                      </a:r>
                      <a:endParaRPr lang="en-US" sz="82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20" dirty="0">
                          <a:solidFill>
                            <a:srgbClr val="0F172A"/>
                          </a:solidFill>
                        </a:rPr>
                        <a:t>0.11x</a:t>
                      </a:r>
                      <a:endParaRPr lang="en-US" sz="82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20" dirty="0">
                          <a:solidFill>
                            <a:srgbClr val="0F172A"/>
                          </a:solidFill>
                        </a:rPr>
                        <a:t>77.74x</a:t>
                      </a:r>
                      <a:endParaRPr lang="en-US" sz="82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20" dirty="0">
                          <a:solidFill>
                            <a:srgbClr val="0F172A"/>
                          </a:solidFill>
                        </a:rPr>
                        <a:t>N/M</a:t>
                      </a:r>
                      <a:endParaRPr lang="en-US" sz="82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494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20" b="1" dirty="0">
                          <a:solidFill>
                            <a:srgbClr val="0F172A"/>
                          </a:solidFill>
                        </a:rPr>
                        <a:t>Tractor Supply</a:t>
                      </a:r>
                      <a:endParaRPr lang="en-US" sz="82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20" dirty="0">
                          <a:solidFill>
                            <a:srgbClr val="0F172A"/>
                          </a:solidFill>
                        </a:rPr>
                        <a:t>1.28x</a:t>
                      </a:r>
                      <a:endParaRPr lang="en-US" sz="82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20" dirty="0">
                          <a:solidFill>
                            <a:srgbClr val="0F172A"/>
                          </a:solidFill>
                        </a:rPr>
                        <a:t>10.17x</a:t>
                      </a:r>
                      <a:endParaRPr lang="en-US" sz="82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20" dirty="0">
                          <a:solidFill>
                            <a:srgbClr val="0F172A"/>
                          </a:solidFill>
                        </a:rPr>
                        <a:t>16.76x</a:t>
                      </a:r>
                      <a:endParaRPr lang="en-US" sz="82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494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20" b="1" dirty="0">
                          <a:solidFill>
                            <a:srgbClr val="0F172A"/>
                          </a:solidFill>
                        </a:rPr>
                        <a:t>Median</a:t>
                      </a:r>
                      <a:endParaRPr lang="en-US" sz="82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20" dirty="0">
                          <a:solidFill>
                            <a:srgbClr val="0F172A"/>
                          </a:solidFill>
                        </a:rPr>
                        <a:t>0.71x</a:t>
                      </a:r>
                      <a:endParaRPr lang="en-US" sz="82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20" dirty="0">
                          <a:solidFill>
                            <a:srgbClr val="0F172A"/>
                          </a:solidFill>
                        </a:rPr>
                        <a:t>10.17x</a:t>
                      </a:r>
                      <a:endParaRPr lang="en-US" sz="82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20" dirty="0">
                          <a:solidFill>
                            <a:srgbClr val="0F172A"/>
                          </a:solidFill>
                        </a:rPr>
                        <a:t>15.21x</a:t>
                      </a:r>
                      <a:endParaRPr lang="en-US" sz="82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5" name="Chart 0"/>
          <p:cNvGraphicFramePr/>
          <p:nvPr/>
        </p:nvGraphicFramePr>
        <p:xfrm>
          <a:off x="6309360" y="1143000"/>
          <a:ext cx="4800600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2"/>
          <p:cNvSpPr/>
          <p:nvPr/>
        </p:nvSpPr>
        <p:spPr>
          <a:xfrm>
            <a:off x="685800" y="4434840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b="1" dirty="0">
                <a:solidFill>
                  <a:srgbClr val="10233F"/>
                </a:solidFill>
              </a:rPr>
              <a:t>IMPORTANT ADJUSTMENT</a:t>
            </a:r>
            <a:endParaRPr lang="en-US" sz="730" dirty="0"/>
          </a:p>
        </p:txBody>
      </p:sp>
      <p:sp>
        <p:nvSpPr>
          <p:cNvPr id="7" name="Shape 3"/>
          <p:cNvSpPr/>
          <p:nvPr/>
        </p:nvSpPr>
        <p:spPr>
          <a:xfrm>
            <a:off x="685800" y="4636008"/>
            <a:ext cx="4937760" cy="0"/>
          </a:xfrm>
          <a:prstGeom prst="line">
            <a:avLst/>
          </a:prstGeom>
          <a:noFill/>
          <a:ln w="12700">
            <a:solidFill>
              <a:srgbClr val="1023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777240" y="4709160"/>
            <a:ext cx="4663440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200" dirty="0">
                <a:solidFill>
                  <a:srgbClr val="334155"/>
                </a:solidFill>
              </a:rPr>
              <a:t>Sportsman's EV/EBITDA is distorted because EBITDA is only ~$1.7mm, creating a huge multiple.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</a:rPr>
              <a:t>That is why median is preferred over mean.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263640" y="4434840"/>
            <a:ext cx="4709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b="1" dirty="0">
                <a:solidFill>
                  <a:srgbClr val="10233F"/>
                </a:solidFill>
              </a:rPr>
              <a:t>HOW TO READ COMPS</a:t>
            </a:r>
            <a:endParaRPr lang="en-US" sz="730" dirty="0"/>
          </a:p>
        </p:txBody>
      </p:sp>
      <p:sp>
        <p:nvSpPr>
          <p:cNvPr id="10" name="Shape 6"/>
          <p:cNvSpPr/>
          <p:nvPr/>
        </p:nvSpPr>
        <p:spPr>
          <a:xfrm>
            <a:off x="6263640" y="4636008"/>
            <a:ext cx="4709160" cy="0"/>
          </a:xfrm>
          <a:prstGeom prst="line">
            <a:avLst/>
          </a:prstGeom>
          <a:noFill/>
          <a:ln w="12700">
            <a:solidFill>
              <a:srgbClr val="1023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7"/>
          <p:cNvSpPr/>
          <p:nvPr/>
        </p:nvSpPr>
        <p:spPr>
          <a:xfrm>
            <a:off x="6355080" y="4709160"/>
            <a:ext cx="4526280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200" dirty="0">
                <a:solidFill>
                  <a:srgbClr val="334155"/>
                </a:solidFill>
              </a:rPr>
              <a:t>EV/Revenue values the sales base.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</a:rPr>
              <a:t>EV/EBITDA values operating cash earnings.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</a:rPr>
              <a:t>P/E values equity directly, so no debt/cash adjustment is needed.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LBO setup: buyer pays a 20% premium and funds the transaction with 4.50x debt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13232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This page answers: how much money is needed, where does it come from, and how much does the sponsor invest?</a:t>
            </a:r>
            <a:endParaRPr lang="en-US" sz="10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24128"/>
          <a:ext cx="4343400" cy="3429000"/>
        </p:xfrm>
        <a:graphic>
          <a:graphicData uri="http://schemas.openxmlformats.org/drawingml/2006/table">
            <a:tbl>
              <a:tblPr/>
              <a:tblGrid>
                <a:gridCol w="2423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</a:rPr>
                        <a:t>Transaction Assumption</a:t>
                      </a:r>
                      <a:endParaRPr lang="en-US" sz="83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83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30" b="1" dirty="0">
                          <a:solidFill>
                            <a:srgbClr val="0F172A"/>
                          </a:solidFill>
                        </a:rPr>
                        <a:t>Entry Share Price</a:t>
                      </a:r>
                      <a:endParaRPr lang="en-US" sz="83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30" dirty="0">
                          <a:solidFill>
                            <a:srgbClr val="0F172A"/>
                          </a:solidFill>
                        </a:rPr>
                        <a:t>$52.25</a:t>
                      </a:r>
                      <a:endParaRPr lang="en-US" sz="83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30" b="1" dirty="0">
                          <a:solidFill>
                            <a:srgbClr val="0F172A"/>
                          </a:solidFill>
                        </a:rPr>
                        <a:t>Acquisition Premium</a:t>
                      </a:r>
                      <a:endParaRPr lang="en-US" sz="83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30" dirty="0">
                          <a:solidFill>
                            <a:srgbClr val="0F172A"/>
                          </a:solidFill>
                        </a:rPr>
                        <a:t>20.0%</a:t>
                      </a:r>
                      <a:endParaRPr lang="en-US" sz="83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30" b="1" dirty="0">
                          <a:solidFill>
                            <a:srgbClr val="0F172A"/>
                          </a:solidFill>
                        </a:rPr>
                        <a:t>Purchase Equity Value</a:t>
                      </a:r>
                      <a:endParaRPr lang="en-US" sz="83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30" dirty="0">
                          <a:solidFill>
                            <a:srgbClr val="0F172A"/>
                          </a:solidFill>
                        </a:rPr>
                        <a:t>$3,240.421mm</a:t>
                      </a:r>
                      <a:endParaRPr lang="en-US" sz="83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30" b="1" dirty="0">
                          <a:solidFill>
                            <a:srgbClr val="0F172A"/>
                          </a:solidFill>
                        </a:rPr>
                        <a:t>Existing Debt</a:t>
                      </a:r>
                      <a:endParaRPr lang="en-US" sz="83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30" dirty="0">
                          <a:solidFill>
                            <a:srgbClr val="0F172A"/>
                          </a:solidFill>
                        </a:rPr>
                        <a:t>$483.793mm</a:t>
                      </a:r>
                      <a:endParaRPr lang="en-US" sz="83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30" b="1" dirty="0">
                          <a:solidFill>
                            <a:srgbClr val="0F172A"/>
                          </a:solidFill>
                        </a:rPr>
                        <a:t>Transaction Fees</a:t>
                      </a:r>
                      <a:endParaRPr lang="en-US" sz="83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30" dirty="0">
                          <a:solidFill>
                            <a:srgbClr val="0F172A"/>
                          </a:solidFill>
                        </a:rPr>
                        <a:t>$64.808mm</a:t>
                      </a:r>
                      <a:endParaRPr lang="en-US" sz="83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30" b="1" dirty="0">
                          <a:solidFill>
                            <a:srgbClr val="0F172A"/>
                          </a:solidFill>
                        </a:rPr>
                        <a:t>Total Uses</a:t>
                      </a:r>
                      <a:endParaRPr lang="en-US" sz="83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30" dirty="0">
                          <a:solidFill>
                            <a:srgbClr val="0F172A"/>
                          </a:solidFill>
                        </a:rPr>
                        <a:t>$3,789.023mm</a:t>
                      </a:r>
                      <a:endParaRPr lang="en-US" sz="83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30" b="1" dirty="0">
                          <a:solidFill>
                            <a:srgbClr val="0F172A"/>
                          </a:solidFill>
                        </a:rPr>
                        <a:t>New Debt</a:t>
                      </a:r>
                      <a:endParaRPr lang="en-US" sz="83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30" dirty="0">
                          <a:solidFill>
                            <a:srgbClr val="0F172A"/>
                          </a:solidFill>
                        </a:rPr>
                        <a:t>$2,857.725mm</a:t>
                      </a:r>
                      <a:endParaRPr lang="en-US" sz="83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30" b="1" dirty="0">
                          <a:solidFill>
                            <a:srgbClr val="0F172A"/>
                          </a:solidFill>
                        </a:rPr>
                        <a:t>Sponsor Equity</a:t>
                      </a:r>
                      <a:endParaRPr lang="en-US" sz="83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30" dirty="0">
                          <a:solidFill>
                            <a:srgbClr val="0F172A"/>
                          </a:solidFill>
                        </a:rPr>
                        <a:t>$931.30mm</a:t>
                      </a:r>
                      <a:endParaRPr lang="en-US" sz="83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172200" y="1143000"/>
            <a:ext cx="4800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b="1" dirty="0">
                <a:solidFill>
                  <a:srgbClr val="10233F"/>
                </a:solidFill>
              </a:rPr>
              <a:t>SOURCES OF CAPITAL</a:t>
            </a:r>
            <a:endParaRPr lang="en-US" sz="730" dirty="0"/>
          </a:p>
        </p:txBody>
      </p:sp>
      <p:sp>
        <p:nvSpPr>
          <p:cNvPr id="6" name="Shape 3"/>
          <p:cNvSpPr/>
          <p:nvPr/>
        </p:nvSpPr>
        <p:spPr>
          <a:xfrm>
            <a:off x="6172200" y="1344168"/>
            <a:ext cx="4800600" cy="0"/>
          </a:xfrm>
          <a:prstGeom prst="line">
            <a:avLst/>
          </a:prstGeom>
          <a:noFill/>
          <a:ln w="12700">
            <a:solidFill>
              <a:srgbClr val="1023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263640" y="1691640"/>
            <a:ext cx="3344808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9608448" y="1691640"/>
            <a:ext cx="1090035" cy="5029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446520" y="184708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New Debt 75%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9281160" y="18470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FFFFFF"/>
                </a:solidFill>
              </a:rPr>
              <a:t>Sponsor Equity 25%</a:t>
            </a:r>
            <a:endParaRPr lang="en-US" sz="820" dirty="0"/>
          </a:p>
        </p:txBody>
      </p:sp>
      <p:sp>
        <p:nvSpPr>
          <p:cNvPr id="11" name="Shape 8"/>
          <p:cNvSpPr/>
          <p:nvPr/>
        </p:nvSpPr>
        <p:spPr>
          <a:xfrm>
            <a:off x="6309360" y="2697480"/>
            <a:ext cx="2103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9"/>
          <p:cNvSpPr/>
          <p:nvPr/>
        </p:nvSpPr>
        <p:spPr>
          <a:xfrm>
            <a:off x="6309360" y="2697480"/>
            <a:ext cx="45720" cy="960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473952" y="2816352"/>
            <a:ext cx="18470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</a:rPr>
              <a:t>Entry Leverage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6473952" y="3054096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33F"/>
                </a:solidFill>
              </a:rPr>
              <a:t>4.50x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6473952" y="342900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64748B"/>
                </a:solidFill>
              </a:rPr>
              <a:t>Debt / Entry EBITDA</a:t>
            </a:r>
            <a:endParaRPr lang="en-US" sz="820" dirty="0"/>
          </a:p>
        </p:txBody>
      </p:sp>
      <p:sp>
        <p:nvSpPr>
          <p:cNvPr id="16" name="Shape 13"/>
          <p:cNvSpPr/>
          <p:nvPr/>
        </p:nvSpPr>
        <p:spPr>
          <a:xfrm>
            <a:off x="8732520" y="2697480"/>
            <a:ext cx="2103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8732520" y="2697480"/>
            <a:ext cx="45720" cy="9601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8897112" y="2816352"/>
            <a:ext cx="18470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</a:rPr>
              <a:t>Sponsor Check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8897112" y="3054096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33F"/>
                </a:solidFill>
              </a:rPr>
              <a:t>$931mm</a:t>
            </a:r>
            <a:endParaRPr lang="en-US" sz="1900" dirty="0"/>
          </a:p>
        </p:txBody>
      </p:sp>
      <p:sp>
        <p:nvSpPr>
          <p:cNvPr id="20" name="Text 17"/>
          <p:cNvSpPr/>
          <p:nvPr/>
        </p:nvSpPr>
        <p:spPr>
          <a:xfrm>
            <a:off x="8897112" y="342900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64748B"/>
                </a:solidFill>
              </a:rPr>
              <a:t>Equity funded by PE sponsor</a:t>
            </a:r>
            <a:endParaRPr lang="en-US" sz="820" dirty="0"/>
          </a:p>
        </p:txBody>
      </p:sp>
      <p:sp>
        <p:nvSpPr>
          <p:cNvPr id="21" name="Shape 18"/>
          <p:cNvSpPr/>
          <p:nvPr/>
        </p:nvSpPr>
        <p:spPr>
          <a:xfrm>
            <a:off x="6263640" y="4343400"/>
            <a:ext cx="4617720" cy="914400"/>
          </a:xfrm>
          <a:prstGeom prst="roundRect">
            <a:avLst>
              <a:gd name="adj" fmla="val 6000"/>
            </a:avLst>
          </a:prstGeom>
          <a:solidFill>
            <a:srgbClr val="E0F2FE"/>
          </a:solidFill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391656" y="4434840"/>
            <a:ext cx="436168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334155"/>
                </a:solidFill>
              </a:rPr>
              <a:t>Total Uses = purchase equity value + existing debt + fees. Total Sources = new debt + sponsor equity. The check must equal zero, because every dollar needed must be funded.</a:t>
            </a:r>
            <a:endParaRPr lang="en-US" sz="9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19" y="320040"/>
            <a:ext cx="113735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LBO returns: EBITDA growth plus debt paydown creates a 2.82x MOIC and 23.1% IRR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13232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Sponsor return is calculated from initial equity investment and exit equity proceeds.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051560"/>
            <a:ext cx="224028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94360" y="1051560"/>
            <a:ext cx="45720" cy="9875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58952" y="1170432"/>
            <a:ext cx="198424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</a:rPr>
              <a:t>Initial Sponsor Equity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58952" y="1408176"/>
            <a:ext cx="1984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33F"/>
                </a:solidFill>
              </a:rPr>
              <a:t>$931.30mm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58952" y="1783080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64748B"/>
                </a:solidFill>
              </a:rPr>
              <a:t>Cash invested at entry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3063240" y="1051560"/>
            <a:ext cx="224028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063240" y="1051560"/>
            <a:ext cx="45720" cy="9875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27832" y="1170432"/>
            <a:ext cx="198424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</a:rPr>
              <a:t>Exit Equity Value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227832" y="1408176"/>
            <a:ext cx="1984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33F"/>
                </a:solidFill>
              </a:rPr>
              <a:t>$2.627bn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3227832" y="1783080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64748B"/>
                </a:solidFill>
              </a:rPr>
              <a:t>2030E exit proceeds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5532120" y="1051560"/>
            <a:ext cx="224028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532120" y="1051560"/>
            <a:ext cx="45720" cy="98755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696712" y="1170432"/>
            <a:ext cx="198424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</a:rPr>
              <a:t>MOIC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696712" y="1408176"/>
            <a:ext cx="1984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33F"/>
                </a:solidFill>
              </a:rPr>
              <a:t>2.82x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5696712" y="1783080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64748B"/>
                </a:solidFill>
              </a:rPr>
              <a:t>Exit / entry equity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8001000" y="1051560"/>
            <a:ext cx="224028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001000" y="1051560"/>
            <a:ext cx="45720" cy="9875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165592" y="1170432"/>
            <a:ext cx="198424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</a:rPr>
              <a:t>IRR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165592" y="1408176"/>
            <a:ext cx="1984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33F"/>
                </a:solidFill>
              </a:rPr>
              <a:t>23.1%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8165592" y="1783080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64748B"/>
                </a:solidFill>
              </a:rPr>
              <a:t>Annualized sponsor return</a:t>
            </a:r>
            <a:endParaRPr lang="en-US" sz="82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560320"/>
          <a:ext cx="3794760" cy="224028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33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Return Bridge ($mm)</a:t>
                      </a:r>
                      <a:endParaRPr lang="en-US" sz="85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Amount</a:t>
                      </a:r>
                      <a:endParaRPr lang="en-US" sz="85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Exit Enterprise Value</a:t>
                      </a:r>
                      <a:endParaRPr lang="en-US" sz="85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$4,055.19</a:t>
                      </a:r>
                      <a:endParaRPr lang="en-US" sz="85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Less Ending Debt</a:t>
                      </a:r>
                      <a:endParaRPr lang="en-US" sz="85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(1,527.85)</a:t>
                      </a:r>
                      <a:endParaRPr lang="en-US" sz="85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Add Exit Cash</a:t>
                      </a:r>
                      <a:endParaRPr lang="en-US" sz="85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100.00</a:t>
                      </a:r>
                      <a:endParaRPr lang="en-US" sz="85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Exit Equity Value</a:t>
                      </a:r>
                      <a:endParaRPr lang="en-US" sz="85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$2,627.34</a:t>
                      </a:r>
                      <a:endParaRPr lang="en-US" sz="85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Initial Sponsor Equity</a:t>
                      </a:r>
                      <a:endParaRPr lang="en-US" sz="85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(931.30)</a:t>
                      </a:r>
                      <a:endParaRPr lang="en-US" sz="85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Text 22"/>
          <p:cNvSpPr/>
          <p:nvPr/>
        </p:nvSpPr>
        <p:spPr>
          <a:xfrm>
            <a:off x="5577840" y="2606040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b="1" dirty="0">
                <a:solidFill>
                  <a:srgbClr val="10233F"/>
                </a:solidFill>
              </a:rPr>
              <a:t>DRIVERS OF RETURN</a:t>
            </a:r>
            <a:endParaRPr lang="en-US" sz="730" dirty="0"/>
          </a:p>
        </p:txBody>
      </p:sp>
      <p:sp>
        <p:nvSpPr>
          <p:cNvPr id="26" name="Shape 23"/>
          <p:cNvSpPr/>
          <p:nvPr/>
        </p:nvSpPr>
        <p:spPr>
          <a:xfrm>
            <a:off x="5577840" y="2807208"/>
            <a:ext cx="4937760" cy="0"/>
          </a:xfrm>
          <a:prstGeom prst="line">
            <a:avLst/>
          </a:prstGeom>
          <a:noFill/>
          <a:ln w="12700">
            <a:solidFill>
              <a:srgbClr val="1023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5715000" y="297180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4748B"/>
                </a:solidFill>
              </a:rPr>
              <a:t>EBITDA Growth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6949440" y="2990088"/>
            <a:ext cx="205740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6949440" y="2990088"/>
            <a:ext cx="1824643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9052560" y="2962656"/>
            <a:ext cx="457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4155"/>
                </a:solidFill>
              </a:rPr>
              <a:t>141.9</a:t>
            </a:r>
            <a:endParaRPr lang="en-US" sz="720" dirty="0"/>
          </a:p>
        </p:txBody>
      </p:sp>
      <p:sp>
        <p:nvSpPr>
          <p:cNvPr id="31" name="Text 28"/>
          <p:cNvSpPr/>
          <p:nvPr/>
        </p:nvSpPr>
        <p:spPr>
          <a:xfrm>
            <a:off x="5715000" y="342900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4748B"/>
                </a:solidFill>
              </a:rPr>
              <a:t>Debt Paydown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6949440" y="3447288"/>
            <a:ext cx="205740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6949440" y="3447288"/>
            <a:ext cx="957389" cy="10972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9052560" y="3419856"/>
            <a:ext cx="457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4155"/>
                </a:solidFill>
              </a:rPr>
              <a:t>46.5</a:t>
            </a:r>
            <a:endParaRPr lang="en-US" sz="720" dirty="0"/>
          </a:p>
        </p:txBody>
      </p:sp>
      <p:sp>
        <p:nvSpPr>
          <p:cNvPr id="35" name="Text 32"/>
          <p:cNvSpPr/>
          <p:nvPr/>
        </p:nvSpPr>
        <p:spPr>
          <a:xfrm>
            <a:off x="5715000" y="388620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4748B"/>
                </a:solidFill>
              </a:rPr>
              <a:t>Exit Multiple</a:t>
            </a:r>
            <a:endParaRPr lang="en-US" sz="750" dirty="0"/>
          </a:p>
        </p:txBody>
      </p:sp>
      <p:sp>
        <p:nvSpPr>
          <p:cNvPr id="36" name="Shape 33"/>
          <p:cNvSpPr/>
          <p:nvPr/>
        </p:nvSpPr>
        <p:spPr>
          <a:xfrm>
            <a:off x="6949440" y="3904488"/>
            <a:ext cx="205740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6949440" y="3904488"/>
            <a:ext cx="1543050" cy="10972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9052560" y="3877056"/>
            <a:ext cx="457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4155"/>
                </a:solidFill>
              </a:rPr>
              <a:t>4.5</a:t>
            </a:r>
            <a:endParaRPr lang="en-US" sz="720" dirty="0"/>
          </a:p>
        </p:txBody>
      </p:sp>
      <p:sp>
        <p:nvSpPr>
          <p:cNvPr id="39" name="Shape 36"/>
          <p:cNvSpPr/>
          <p:nvPr/>
        </p:nvSpPr>
        <p:spPr>
          <a:xfrm>
            <a:off x="5715000" y="4480560"/>
            <a:ext cx="5074920" cy="676656"/>
          </a:xfrm>
          <a:prstGeom prst="roundRect">
            <a:avLst>
              <a:gd name="adj" fmla="val 8108"/>
            </a:avLst>
          </a:prstGeom>
          <a:solidFill>
            <a:srgbClr val="FEF3C7"/>
          </a:solidFill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5843016" y="4572000"/>
            <a:ext cx="48188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334155"/>
                </a:solidFill>
              </a:rPr>
              <a:t>No multiple expansion is assumed: the exit multiple is 4.50x, roughly in line with Academy’s entry trading multiple. The return mainly comes from leverage, EBITDA growth, and debt paydown.</a:t>
            </a:r>
            <a:endParaRPr lang="en-US" sz="940" dirty="0"/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LBO sensitivity: returns are attractive but very sensitive to leverage and exit multiple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10054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This is the risk-control slide: it shows how much the conclusion changes when assumptions move.</a:t>
            </a:r>
            <a:endParaRPr lang="en-US" sz="10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6126480" cy="283464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724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70" b="1" dirty="0">
                          <a:solidFill>
                            <a:srgbClr val="FFFFFF"/>
                          </a:solidFill>
                        </a:rPr>
                        <a:t>Entry Leverage ↓ / Exit Multiple →</a:t>
                      </a:r>
                      <a:endParaRPr lang="en-US" sz="77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70" b="1" dirty="0">
                          <a:solidFill>
                            <a:srgbClr val="FFFFFF"/>
                          </a:solidFill>
                        </a:rPr>
                        <a:t>3.50x</a:t>
                      </a:r>
                      <a:endParaRPr lang="en-US" sz="77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70" b="1" dirty="0">
                          <a:solidFill>
                            <a:srgbClr val="FFFFFF"/>
                          </a:solidFill>
                        </a:rPr>
                        <a:t>4.00x</a:t>
                      </a:r>
                      <a:endParaRPr lang="en-US" sz="77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70" b="1" dirty="0">
                          <a:solidFill>
                            <a:srgbClr val="FFFFFF"/>
                          </a:solidFill>
                        </a:rPr>
                        <a:t>4.50x</a:t>
                      </a:r>
                      <a:endParaRPr lang="en-US" sz="77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70" b="1" dirty="0">
                          <a:solidFill>
                            <a:srgbClr val="FFFFFF"/>
                          </a:solidFill>
                        </a:rPr>
                        <a:t>5.00x</a:t>
                      </a:r>
                      <a:endParaRPr lang="en-US" sz="77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70" b="1" dirty="0">
                          <a:solidFill>
                            <a:srgbClr val="FFFFFF"/>
                          </a:solidFill>
                        </a:rPr>
                        <a:t>5.50x</a:t>
                      </a:r>
                      <a:endParaRPr lang="en-US" sz="77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70" b="1" dirty="0">
                          <a:solidFill>
                            <a:srgbClr val="0F172A"/>
                          </a:solidFill>
                        </a:rPr>
                        <a:t>3.00x</a:t>
                      </a:r>
                      <a:endParaRPr lang="en-US" sz="77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70" dirty="0">
                          <a:solidFill>
                            <a:srgbClr val="0F172A"/>
                          </a:solidFill>
                        </a:rPr>
                        <a:t>9.7%</a:t>
                      </a:r>
                      <a:endParaRPr lang="en-US" sz="77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70" dirty="0">
                          <a:solidFill>
                            <a:srgbClr val="0F172A"/>
                          </a:solidFill>
                        </a:rPr>
                        <a:t>12.8%</a:t>
                      </a:r>
                      <a:endParaRPr lang="en-US" sz="77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70" dirty="0">
                          <a:solidFill>
                            <a:srgbClr val="0F172A"/>
                          </a:solidFill>
                        </a:rPr>
                        <a:t>15.6%</a:t>
                      </a:r>
                      <a:endParaRPr lang="en-US" sz="77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70" dirty="0">
                          <a:solidFill>
                            <a:srgbClr val="0F172A"/>
                          </a:solidFill>
                        </a:rPr>
                        <a:t>18.2%</a:t>
                      </a:r>
                      <a:endParaRPr lang="en-US" sz="77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70" dirty="0">
                          <a:solidFill>
                            <a:srgbClr val="0F172A"/>
                          </a:solidFill>
                        </a:rPr>
                        <a:t>20.5%</a:t>
                      </a:r>
                      <a:endParaRPr lang="en-US" sz="77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70" b="1" dirty="0">
                          <a:solidFill>
                            <a:srgbClr val="0F172A"/>
                          </a:solidFill>
                        </a:rPr>
                        <a:t>3.50x</a:t>
                      </a:r>
                      <a:endParaRPr lang="en-US" sz="77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70" dirty="0">
                          <a:solidFill>
                            <a:srgbClr val="0F172A"/>
                          </a:solidFill>
                        </a:rPr>
                        <a:t>10.4%</a:t>
                      </a:r>
                      <a:endParaRPr lang="en-US" sz="77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70" dirty="0">
                          <a:solidFill>
                            <a:srgbClr val="0F172A"/>
                          </a:solidFill>
                        </a:rPr>
                        <a:t>14.0%</a:t>
                      </a:r>
                      <a:endParaRPr lang="en-US" sz="77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70" dirty="0">
                          <a:solidFill>
                            <a:srgbClr val="0F172A"/>
                          </a:solidFill>
                        </a:rPr>
                        <a:t>17.2%</a:t>
                      </a:r>
                      <a:endParaRPr lang="en-US" sz="77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70" dirty="0">
                          <a:solidFill>
                            <a:srgbClr val="0F172A"/>
                          </a:solidFill>
                        </a:rPr>
                        <a:t>20.1%</a:t>
                      </a:r>
                      <a:endParaRPr lang="en-US" sz="77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70" dirty="0">
                          <a:solidFill>
                            <a:srgbClr val="0F172A"/>
                          </a:solidFill>
                        </a:rPr>
                        <a:t>22.8%</a:t>
                      </a:r>
                      <a:endParaRPr lang="en-US" sz="77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70" b="1" dirty="0">
                          <a:solidFill>
                            <a:srgbClr val="0F172A"/>
                          </a:solidFill>
                        </a:rPr>
                        <a:t>4.00x</a:t>
                      </a:r>
                      <a:endParaRPr lang="en-US" sz="77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70" dirty="0">
                          <a:solidFill>
                            <a:srgbClr val="0F172A"/>
                          </a:solidFill>
                        </a:rPr>
                        <a:t>11.5%</a:t>
                      </a:r>
                      <a:endParaRPr lang="en-US" sz="77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70" dirty="0">
                          <a:solidFill>
                            <a:srgbClr val="0F172A"/>
                          </a:solidFill>
                        </a:rPr>
                        <a:t>15.8%</a:t>
                      </a:r>
                      <a:endParaRPr lang="en-US" sz="77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70" dirty="0">
                          <a:solidFill>
                            <a:srgbClr val="0F172A"/>
                          </a:solidFill>
                        </a:rPr>
                        <a:t>19.5%</a:t>
                      </a:r>
                      <a:endParaRPr lang="en-US" sz="77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70" dirty="0">
                          <a:solidFill>
                            <a:srgbClr val="0F172A"/>
                          </a:solidFill>
                        </a:rPr>
                        <a:t>22.9%</a:t>
                      </a:r>
                      <a:endParaRPr lang="en-US" sz="77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70" dirty="0">
                          <a:solidFill>
                            <a:srgbClr val="0F172A"/>
                          </a:solidFill>
                        </a:rPr>
                        <a:t>25.9%</a:t>
                      </a:r>
                      <a:endParaRPr lang="en-US" sz="77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70" b="1" dirty="0">
                          <a:solidFill>
                            <a:srgbClr val="0F172A"/>
                          </a:solidFill>
                        </a:rPr>
                        <a:t>4.50x</a:t>
                      </a:r>
                      <a:endParaRPr lang="en-US" sz="77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70" dirty="0">
                          <a:solidFill>
                            <a:srgbClr val="0F172A"/>
                          </a:solidFill>
                        </a:rPr>
                        <a:t>13.1%</a:t>
                      </a:r>
                      <a:endParaRPr lang="en-US" sz="77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70" dirty="0">
                          <a:solidFill>
                            <a:srgbClr val="0F172A"/>
                          </a:solidFill>
                        </a:rPr>
                        <a:t>18.5%</a:t>
                      </a:r>
                      <a:endParaRPr lang="en-US" sz="77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70" dirty="0">
                          <a:solidFill>
                            <a:srgbClr val="0F172A"/>
                          </a:solidFill>
                        </a:rPr>
                        <a:t>23.1%</a:t>
                      </a:r>
                      <a:endParaRPr lang="en-US" sz="77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70" dirty="0">
                          <a:solidFill>
                            <a:srgbClr val="0F172A"/>
                          </a:solidFill>
                        </a:rPr>
                        <a:t>27.0%</a:t>
                      </a:r>
                      <a:endParaRPr lang="en-US" sz="77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70" dirty="0">
                          <a:solidFill>
                            <a:srgbClr val="0F172A"/>
                          </a:solidFill>
                        </a:rPr>
                        <a:t>30.5%</a:t>
                      </a:r>
                      <a:endParaRPr lang="en-US" sz="77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70" b="1" dirty="0">
                          <a:solidFill>
                            <a:srgbClr val="0F172A"/>
                          </a:solidFill>
                        </a:rPr>
                        <a:t>5.00x</a:t>
                      </a:r>
                      <a:endParaRPr lang="en-US" sz="77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70" dirty="0">
                          <a:solidFill>
                            <a:srgbClr val="0F172A"/>
                          </a:solidFill>
                        </a:rPr>
                        <a:t>16.3%</a:t>
                      </a:r>
                      <a:endParaRPr lang="en-US" sz="77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70" dirty="0">
                          <a:solidFill>
                            <a:srgbClr val="0F172A"/>
                          </a:solidFill>
                        </a:rPr>
                        <a:t>23.4%</a:t>
                      </a:r>
                      <a:endParaRPr lang="en-US" sz="77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70" dirty="0">
                          <a:solidFill>
                            <a:srgbClr val="0F172A"/>
                          </a:solidFill>
                        </a:rPr>
                        <a:t>29.2%</a:t>
                      </a:r>
                      <a:endParaRPr lang="en-US" sz="77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70" dirty="0">
                          <a:solidFill>
                            <a:srgbClr val="0F172A"/>
                          </a:solidFill>
                        </a:rPr>
                        <a:t>34.1%</a:t>
                      </a:r>
                      <a:endParaRPr lang="en-US" sz="77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70" dirty="0">
                          <a:solidFill>
                            <a:srgbClr val="0F172A"/>
                          </a:solidFill>
                        </a:rPr>
                        <a:t>38.3%</a:t>
                      </a:r>
                      <a:endParaRPr lang="en-US" sz="77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498080" y="1143000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7498080" y="1143000"/>
            <a:ext cx="45720" cy="9601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662672" y="1261872"/>
            <a:ext cx="16642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</a:rPr>
              <a:t>Base Case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7662672" y="1499616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33F"/>
                </a:solidFill>
              </a:rPr>
              <a:t>23.1%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7662672" y="187452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64748B"/>
                </a:solidFill>
              </a:rPr>
              <a:t>4.50x leverage / 4.50x exit</a:t>
            </a:r>
            <a:endParaRPr lang="en-US" sz="820" dirty="0"/>
          </a:p>
        </p:txBody>
      </p:sp>
      <p:sp>
        <p:nvSpPr>
          <p:cNvPr id="10" name="Shape 7"/>
          <p:cNvSpPr/>
          <p:nvPr/>
        </p:nvSpPr>
        <p:spPr>
          <a:xfrm>
            <a:off x="9646920" y="1143000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9646920" y="1143000"/>
            <a:ext cx="45720" cy="9601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9811512" y="1261872"/>
            <a:ext cx="16642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</a:rPr>
              <a:t>Downside Case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9811512" y="1499616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33F"/>
                </a:solidFill>
              </a:rPr>
              <a:t>15.6%</a:t>
            </a:r>
            <a:endParaRPr lang="en-US" sz="1900" dirty="0"/>
          </a:p>
        </p:txBody>
      </p:sp>
      <p:sp>
        <p:nvSpPr>
          <p:cNvPr id="4" name="Text 11"/>
          <p:cNvSpPr/>
          <p:nvPr/>
        </p:nvSpPr>
        <p:spPr>
          <a:xfrm>
            <a:off x="9811512" y="187452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64748B"/>
                </a:solidFill>
              </a:rPr>
              <a:t>3.00x leverage / 4.50x exit</a:t>
            </a:r>
            <a:endParaRPr lang="en-US" sz="820" dirty="0"/>
          </a:p>
        </p:txBody>
      </p:sp>
      <p:sp>
        <p:nvSpPr>
          <p:cNvPr id="15" name="Text 12"/>
          <p:cNvSpPr/>
          <p:nvPr/>
        </p:nvSpPr>
        <p:spPr>
          <a:xfrm>
            <a:off x="7498080" y="2697480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b="1" dirty="0">
                <a:solidFill>
                  <a:srgbClr val="10233F"/>
                </a:solidFill>
              </a:rPr>
              <a:t>HOW TO READ THIS</a:t>
            </a:r>
            <a:endParaRPr lang="en-US" sz="730" dirty="0"/>
          </a:p>
        </p:txBody>
      </p:sp>
      <p:sp>
        <p:nvSpPr>
          <p:cNvPr id="16" name="Shape 13"/>
          <p:cNvSpPr/>
          <p:nvPr/>
        </p:nvSpPr>
        <p:spPr>
          <a:xfrm>
            <a:off x="7498080" y="2898648"/>
            <a:ext cx="3931920" cy="0"/>
          </a:xfrm>
          <a:prstGeom prst="line">
            <a:avLst/>
          </a:prstGeom>
          <a:noFill/>
          <a:ln w="12700">
            <a:solidFill>
              <a:srgbClr val="1023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7589520" y="2971800"/>
            <a:ext cx="3703320" cy="1965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140" dirty="0">
                <a:solidFill>
                  <a:srgbClr val="334155"/>
                </a:solidFill>
              </a:rPr>
              <a:t>Columns test different exit EV/EBITDA multiples.</a:t>
            </a:r>
            <a:endParaRPr lang="en-US" sz="1140" dirty="0"/>
          </a:p>
          <a:p>
            <a:r>
              <a:rPr lang="en-US" sz="1140" dirty="0">
                <a:solidFill>
                  <a:srgbClr val="334155"/>
                </a:solidFill>
              </a:rPr>
              <a:t>Rows test different entry debt / EBITDA leverage levels.</a:t>
            </a:r>
            <a:endParaRPr lang="en-US" sz="1140" dirty="0"/>
          </a:p>
          <a:p>
            <a:r>
              <a:rPr lang="en-US" sz="1140" dirty="0">
                <a:solidFill>
                  <a:srgbClr val="334155"/>
                </a:solidFill>
              </a:rPr>
              <a:t>Higher leverage raises upside but also increases default/refinancing risk.</a:t>
            </a:r>
            <a:endParaRPr lang="en-US" sz="1140" dirty="0"/>
          </a:p>
          <a:p>
            <a:r>
              <a:rPr lang="en-US" sz="1140" dirty="0">
                <a:solidFill>
                  <a:srgbClr val="334155"/>
                </a:solidFill>
              </a:rPr>
              <a:t>The base case clears a typical PE return threshold, but not by accident-proof margins.</a:t>
            </a:r>
            <a:endParaRPr lang="en-US" sz="1140" dirty="0"/>
          </a:p>
        </p:txBody>
      </p:sp>
      <p:sp>
        <p:nvSpPr>
          <p:cNvPr id="18" name="Shape 15"/>
          <p:cNvSpPr/>
          <p:nvPr/>
        </p:nvSpPr>
        <p:spPr>
          <a:xfrm>
            <a:off x="685800" y="4800600"/>
            <a:ext cx="10561320" cy="594360"/>
          </a:xfrm>
          <a:prstGeom prst="roundRect">
            <a:avLst>
              <a:gd name="adj" fmla="val 9231"/>
            </a:avLst>
          </a:prstGeom>
          <a:solidFill>
            <a:srgbClr val="E0F2FE"/>
          </a:solidFill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813816" y="4892040"/>
            <a:ext cx="1030528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334155"/>
                </a:solidFill>
              </a:rPr>
              <a:t>Pitching note: PE investors care about base-case returns, but they care even more about whether the deal still works when assumptions are less favorable.</a:t>
            </a:r>
            <a:endParaRPr lang="en-US" sz="9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risks and diligence questions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13232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A credible pitch does not just show upside; it explains what could break the thesis.</a:t>
            </a:r>
            <a:endParaRPr lang="en-US" sz="10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78992"/>
          <a:ext cx="10332720" cy="3063242"/>
        </p:xfrm>
        <a:graphic>
          <a:graphicData uri="http://schemas.openxmlformats.org/drawingml/2006/table">
            <a:tbl>
              <a:tblPr/>
              <a:tblGrid>
                <a:gridCol w="1508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80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760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90" b="1" dirty="0">
                          <a:solidFill>
                            <a:srgbClr val="FFFFFF"/>
                          </a:solidFill>
                        </a:rPr>
                        <a:t>Risk Area</a:t>
                      </a:r>
                      <a:endParaRPr lang="en-US" sz="79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90" b="1" dirty="0">
                          <a:solidFill>
                            <a:srgbClr val="FFFFFF"/>
                          </a:solidFill>
                        </a:rPr>
                        <a:t>Why it matters</a:t>
                      </a:r>
                      <a:endParaRPr lang="en-US" sz="79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90" b="1" dirty="0">
                          <a:solidFill>
                            <a:srgbClr val="FFFFFF"/>
                          </a:solidFill>
                        </a:rPr>
                        <a:t>Diligence question</a:t>
                      </a:r>
                      <a:endParaRPr lang="en-US" sz="79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760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90" b="1" dirty="0">
                          <a:solidFill>
                            <a:srgbClr val="0F172A"/>
                          </a:solidFill>
                        </a:rPr>
                        <a:t>Consumer demand</a:t>
                      </a:r>
                      <a:endParaRPr lang="en-US" sz="79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90" dirty="0">
                          <a:solidFill>
                            <a:srgbClr val="0F172A"/>
                          </a:solidFill>
                        </a:rPr>
                        <a:t>Retail traffic can weaken quickly</a:t>
                      </a:r>
                      <a:endParaRPr lang="en-US" sz="79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90" dirty="0">
                          <a:solidFill>
                            <a:srgbClr val="0F172A"/>
                          </a:solidFill>
                        </a:rPr>
                        <a:t>Are sales forecasts defensible across regions and categories?</a:t>
                      </a:r>
                      <a:endParaRPr lang="en-US" sz="79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760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90" b="1" dirty="0">
                          <a:solidFill>
                            <a:srgbClr val="0F172A"/>
                          </a:solidFill>
                        </a:rPr>
                        <a:t>Margin pressure</a:t>
                      </a:r>
                      <a:endParaRPr lang="en-US" sz="79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90" dirty="0">
                          <a:solidFill>
                            <a:srgbClr val="0F172A"/>
                          </a:solidFill>
                        </a:rPr>
                        <a:t>Gross margin recovery drives EBITDA</a:t>
                      </a:r>
                      <a:endParaRPr lang="en-US" sz="79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90" dirty="0">
                          <a:solidFill>
                            <a:srgbClr val="0F172A"/>
                          </a:solidFill>
                        </a:rPr>
                        <a:t>Can Academy hold pricing and mix without losing traffic?</a:t>
                      </a:r>
                      <a:endParaRPr lang="en-US" sz="79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760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90" b="1" dirty="0">
                          <a:solidFill>
                            <a:srgbClr val="0F172A"/>
                          </a:solidFill>
                        </a:rPr>
                        <a:t>Inventory</a:t>
                      </a:r>
                      <a:endParaRPr lang="en-US" sz="79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90" dirty="0">
                          <a:solidFill>
                            <a:srgbClr val="0F172A"/>
                          </a:solidFill>
                        </a:rPr>
                        <a:t>Working capital uses cash</a:t>
                      </a:r>
                      <a:endParaRPr lang="en-US" sz="79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90" dirty="0">
                          <a:solidFill>
                            <a:srgbClr val="0F172A"/>
                          </a:solidFill>
                        </a:rPr>
                        <a:t>Are inventory assumptions realistic and seasonally adjusted?</a:t>
                      </a:r>
                      <a:endParaRPr lang="en-US" sz="79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760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90" b="1" dirty="0">
                          <a:solidFill>
                            <a:srgbClr val="0F172A"/>
                          </a:solidFill>
                        </a:rPr>
                        <a:t>Debt capacity</a:t>
                      </a:r>
                      <a:endParaRPr lang="en-US" sz="79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90" dirty="0">
                          <a:solidFill>
                            <a:srgbClr val="0F172A"/>
                          </a:solidFill>
                        </a:rPr>
                        <a:t>LBO depends on leverage</a:t>
                      </a:r>
                      <a:endParaRPr lang="en-US" sz="79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90" dirty="0">
                          <a:solidFill>
                            <a:srgbClr val="0F172A"/>
                          </a:solidFill>
                        </a:rPr>
                        <a:t>Would lenders actually finance 4.50x debt / EBITDA?</a:t>
                      </a:r>
                      <a:endParaRPr lang="en-US" sz="79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760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90" b="1" dirty="0">
                          <a:solidFill>
                            <a:srgbClr val="0F172A"/>
                          </a:solidFill>
                        </a:rPr>
                        <a:t>Exit multiple</a:t>
                      </a:r>
                      <a:endParaRPr lang="en-US" sz="79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90" dirty="0">
                          <a:solidFill>
                            <a:srgbClr val="0F172A"/>
                          </a:solidFill>
                        </a:rPr>
                        <a:t>IRR depends on sale valuation</a:t>
                      </a:r>
                      <a:endParaRPr lang="en-US" sz="79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90" dirty="0">
                          <a:solidFill>
                            <a:srgbClr val="0F172A"/>
                          </a:solidFill>
                        </a:rPr>
                        <a:t>Can the sponsor exit at 4.50x or better?</a:t>
                      </a:r>
                      <a:endParaRPr lang="en-US" sz="79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760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90" b="1" dirty="0">
                          <a:solidFill>
                            <a:srgbClr val="0F172A"/>
                          </a:solidFill>
                        </a:rPr>
                        <a:t>Competition</a:t>
                      </a:r>
                      <a:endParaRPr lang="en-US" sz="79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90" dirty="0">
                          <a:solidFill>
                            <a:srgbClr val="0F172A"/>
                          </a:solidFill>
                        </a:rPr>
                        <a:t>Peers and e-commerce pressure returns</a:t>
                      </a:r>
                      <a:endParaRPr lang="en-US" sz="79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90" dirty="0">
                          <a:solidFill>
                            <a:srgbClr val="0F172A"/>
                          </a:solidFill>
                        </a:rPr>
                        <a:t>What protects Academy from competitors?</a:t>
                      </a:r>
                      <a:endParaRPr lang="en-US" sz="79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85800" y="4617720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b="1" dirty="0">
                <a:solidFill>
                  <a:srgbClr val="10233F"/>
                </a:solidFill>
              </a:rPr>
              <a:t>MOST IMPORTANT DILIGENCE ITEM</a:t>
            </a:r>
            <a:endParaRPr lang="en-US" sz="730" dirty="0"/>
          </a:p>
        </p:txBody>
      </p:sp>
      <p:sp>
        <p:nvSpPr>
          <p:cNvPr id="6" name="Shape 3"/>
          <p:cNvSpPr/>
          <p:nvPr/>
        </p:nvSpPr>
        <p:spPr>
          <a:xfrm>
            <a:off x="685800" y="4818888"/>
            <a:ext cx="5029200" cy="0"/>
          </a:xfrm>
          <a:prstGeom prst="line">
            <a:avLst/>
          </a:prstGeom>
          <a:noFill/>
          <a:ln w="12700">
            <a:solidFill>
              <a:srgbClr val="1023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77240" y="4901184"/>
            <a:ext cx="475488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250" dirty="0">
                <a:solidFill>
                  <a:srgbClr val="334155"/>
                </a:solidFill>
              </a:rPr>
              <a:t>Validate whether EBITDA margin can realistically move from ~10.5% in 2025A to ~12.0% by 2030E.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172200" y="4617720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b="1" dirty="0">
                <a:solidFill>
                  <a:srgbClr val="10233F"/>
                </a:solidFill>
              </a:rPr>
              <a:t>MOST IMPORTANT FINANCING ITEM</a:t>
            </a:r>
            <a:endParaRPr lang="en-US" sz="730" dirty="0"/>
          </a:p>
        </p:txBody>
      </p:sp>
      <p:sp>
        <p:nvSpPr>
          <p:cNvPr id="9" name="Shape 6"/>
          <p:cNvSpPr/>
          <p:nvPr/>
        </p:nvSpPr>
        <p:spPr>
          <a:xfrm>
            <a:off x="6172200" y="4818888"/>
            <a:ext cx="5029200" cy="0"/>
          </a:xfrm>
          <a:prstGeom prst="line">
            <a:avLst/>
          </a:prstGeom>
          <a:noFill/>
          <a:ln w="12700">
            <a:solidFill>
              <a:srgbClr val="1023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263640" y="4901184"/>
            <a:ext cx="475488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250" dirty="0">
                <a:solidFill>
                  <a:srgbClr val="334155"/>
                </a:solidFill>
              </a:rPr>
              <a:t>Confirm current debt-market appetite for a retailer at 4.50x entry debt / EBITDA with enough covenant flexibility.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Investment committee recommendation: proceed to deeper diligence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13232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The model supports a constructive view, but the deal should be pursued only with underwriting discipline.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143000"/>
            <a:ext cx="246888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94360" y="1143000"/>
            <a:ext cx="45720" cy="9875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58952" y="1261872"/>
            <a:ext cx="221284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</a:rPr>
              <a:t>Recommendation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58952" y="1499616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33F"/>
                </a:solidFill>
              </a:rPr>
              <a:t>Proceed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58952" y="187452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64748B"/>
                </a:solidFill>
              </a:rPr>
              <a:t>Move to next diligence stage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3337560" y="1143000"/>
            <a:ext cx="246888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337560" y="1143000"/>
            <a:ext cx="45720" cy="9875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502152" y="1261872"/>
            <a:ext cx="221284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</a:rPr>
              <a:t>Target Return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502152" y="1499616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33F"/>
                </a:solidFill>
              </a:rPr>
              <a:t>23.1% IRR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3502152" y="187452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64748B"/>
                </a:solidFill>
              </a:rPr>
              <a:t>Base case after premium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6080760" y="1143000"/>
            <a:ext cx="246888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080760" y="1143000"/>
            <a:ext cx="45720" cy="9875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45352" y="1261872"/>
            <a:ext cx="221284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</a:rPr>
              <a:t>Valuation Support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245352" y="1499616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33F"/>
                </a:solidFill>
              </a:rPr>
              <a:t>$86.81–$102.96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245352" y="187452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64748B"/>
                </a:solidFill>
              </a:rPr>
              <a:t>Comps avg to DCF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8823960" y="1143000"/>
            <a:ext cx="246888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823960" y="1143000"/>
            <a:ext cx="45720" cy="9875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988552" y="1261872"/>
            <a:ext cx="221284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</a:rPr>
              <a:t>Main Constraint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988552" y="1499616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33F"/>
                </a:solidFill>
              </a:rPr>
              <a:t>Leverage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8988552" y="187452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64748B"/>
                </a:solidFill>
              </a:rPr>
              <a:t>Debt capacity must be proven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731520" y="2761488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b="1" dirty="0">
                <a:solidFill>
                  <a:srgbClr val="10233F"/>
                </a:solidFill>
              </a:rPr>
              <a:t>WHY PROCEED</a:t>
            </a:r>
            <a:endParaRPr lang="en-US" sz="730" dirty="0"/>
          </a:p>
        </p:txBody>
      </p:sp>
      <p:sp>
        <p:nvSpPr>
          <p:cNvPr id="25" name="Shape 23"/>
          <p:cNvSpPr/>
          <p:nvPr/>
        </p:nvSpPr>
        <p:spPr>
          <a:xfrm>
            <a:off x="731520" y="2962656"/>
            <a:ext cx="5120640" cy="0"/>
          </a:xfrm>
          <a:prstGeom prst="line">
            <a:avLst/>
          </a:prstGeom>
          <a:noFill/>
          <a:ln w="12700">
            <a:solidFill>
              <a:srgbClr val="1023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22960" y="3044952"/>
            <a:ext cx="4800600" cy="15727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200" dirty="0">
                <a:solidFill>
                  <a:srgbClr val="334155"/>
                </a:solidFill>
              </a:rPr>
              <a:t>Base-case LBO return of 2.82x MOIC / 23.1% IRR remains attractive after adding a takeover premium and minimum cash.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</a:rPr>
              <a:t>DCF and comps both imply value above the current share price.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</a:rPr>
              <a:t>Operational plan requires moderate growth rather than heroic revenue assumptions.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72200" y="2761488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b="1" dirty="0">
                <a:solidFill>
                  <a:srgbClr val="10233F"/>
                </a:solidFill>
              </a:rPr>
              <a:t>WHAT MUST BE PROVEN BEFORE INVESTMENT</a:t>
            </a:r>
            <a:endParaRPr lang="en-US" sz="730" dirty="0"/>
          </a:p>
        </p:txBody>
      </p:sp>
      <p:sp>
        <p:nvSpPr>
          <p:cNvPr id="28" name="Shape 26"/>
          <p:cNvSpPr/>
          <p:nvPr/>
        </p:nvSpPr>
        <p:spPr>
          <a:xfrm>
            <a:off x="6172200" y="2962656"/>
            <a:ext cx="4937760" cy="0"/>
          </a:xfrm>
          <a:prstGeom prst="line">
            <a:avLst/>
          </a:prstGeom>
          <a:noFill/>
          <a:ln w="12700">
            <a:solidFill>
              <a:srgbClr val="1023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263640" y="3044952"/>
            <a:ext cx="4663440" cy="15727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200" dirty="0">
                <a:solidFill>
                  <a:srgbClr val="334155"/>
                </a:solidFill>
              </a:rPr>
              <a:t>Lenders can finance the transaction at/near 4.50x debt / EBITDA.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</a:rPr>
              <a:t>Margin improvement and inventory assumptions are supported by real company evidence.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</a:rPr>
              <a:t>Exit multiple risk is acceptable under downside scenarios.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77240" y="5230368"/>
            <a:ext cx="10332720" cy="566928"/>
          </a:xfrm>
          <a:prstGeom prst="roundRect">
            <a:avLst>
              <a:gd name="adj" fmla="val 9677"/>
            </a:avLst>
          </a:prstGeom>
          <a:solidFill>
            <a:srgbClr val="FEF3C7"/>
          </a:solidFill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905256" y="5321808"/>
            <a:ext cx="10076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334155"/>
                </a:solidFill>
              </a:rPr>
              <a:t>Bottom line: Academy is not an automatic buy, but it is a credible buyout candidate worth presenting to a PE investment committee for the next round of diligence.</a:t>
            </a:r>
            <a:endParaRPr lang="en-US" sz="94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Appendix: quick reference for terms used in the model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13232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Use this slide when you come back later and forget what the outputs mean.</a:t>
            </a:r>
            <a:endParaRPr lang="en-US" sz="10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051560"/>
          <a:ext cx="10561320" cy="4434840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03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2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90" b="1" dirty="0">
                          <a:solidFill>
                            <a:srgbClr val="FFFFFF"/>
                          </a:solidFill>
                        </a:rPr>
                        <a:t>Term</a:t>
                      </a:r>
                      <a:endParaRPr lang="en-US" sz="89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90" b="1" dirty="0">
                          <a:solidFill>
                            <a:srgbClr val="FFFFFF"/>
                          </a:solidFill>
                        </a:rPr>
                        <a:t>Plain-English meaning</a:t>
                      </a:r>
                      <a:endParaRPr lang="en-US" sz="89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2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90" b="1" dirty="0">
                          <a:solidFill>
                            <a:srgbClr val="0F172A"/>
                          </a:solidFill>
                        </a:rPr>
                        <a:t>Enterprise Value (EV)</a:t>
                      </a:r>
                      <a:endParaRPr lang="en-US" sz="89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</a:rPr>
                        <a:t>Value of the entire business before considering cash and debt.</a:t>
                      </a:r>
                      <a:endParaRPr lang="en-US" sz="89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2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90" b="1" dirty="0">
                          <a:solidFill>
                            <a:srgbClr val="0F172A"/>
                          </a:solidFill>
                        </a:rPr>
                        <a:t>Equity Value</a:t>
                      </a:r>
                      <a:endParaRPr lang="en-US" sz="89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</a:rPr>
                        <a:t>Value attributable to shareholders after subtracting debt and adding cash.</a:t>
                      </a:r>
                      <a:endParaRPr lang="en-US" sz="89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2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90" b="1" dirty="0">
                          <a:solidFill>
                            <a:srgbClr val="0F172A"/>
                          </a:solidFill>
                        </a:rPr>
                        <a:t>EBITDA</a:t>
                      </a:r>
                      <a:endParaRPr lang="en-US" sz="89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</a:rPr>
                        <a:t>Operating earnings before depreciation and amortization; rough cash earnings proxy.</a:t>
                      </a:r>
                      <a:endParaRPr lang="en-US" sz="89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2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90" b="1" dirty="0">
                          <a:solidFill>
                            <a:srgbClr val="0F172A"/>
                          </a:solidFill>
                        </a:rPr>
                        <a:t>WACC</a:t>
                      </a:r>
                      <a:endParaRPr lang="en-US" sz="89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</a:rPr>
                        <a:t>Blended required return for debt and equity investors; used to discount UFCF.</a:t>
                      </a:r>
                      <a:endParaRPr lang="en-US" sz="89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2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90" b="1" dirty="0">
                          <a:solidFill>
                            <a:srgbClr val="0F172A"/>
                          </a:solidFill>
                        </a:rPr>
                        <a:t>UFCF</a:t>
                      </a:r>
                      <a:endParaRPr lang="en-US" sz="89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</a:rPr>
                        <a:t>Unlevered free cash flow; cash flow before debt financing effects.</a:t>
                      </a:r>
                      <a:endParaRPr lang="en-US" sz="89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2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90" b="1" dirty="0">
                          <a:solidFill>
                            <a:srgbClr val="0F172A"/>
                          </a:solidFill>
                        </a:rPr>
                        <a:t>MOIC</a:t>
                      </a:r>
                      <a:endParaRPr lang="en-US" sz="89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</a:rPr>
                        <a:t>Multiple on invested capital; exit equity divided by initial sponsor equity.</a:t>
                      </a:r>
                      <a:endParaRPr lang="en-US" sz="89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2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90" b="1" dirty="0">
                          <a:solidFill>
                            <a:srgbClr val="0F172A"/>
                          </a:solidFill>
                        </a:rPr>
                        <a:t>IRR</a:t>
                      </a:r>
                      <a:endParaRPr lang="en-US" sz="89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</a:rPr>
                        <a:t>Annualized return based on timing of cash invested and cash received.</a:t>
                      </a:r>
                      <a:endParaRPr lang="en-US" sz="89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2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90" b="1" dirty="0">
                          <a:solidFill>
                            <a:srgbClr val="0F172A"/>
                          </a:solidFill>
                        </a:rPr>
                        <a:t>N/M</a:t>
                      </a:r>
                      <a:endParaRPr lang="en-US" sz="89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90" dirty="0">
                          <a:solidFill>
                            <a:srgbClr val="0F172A"/>
                          </a:solidFill>
                        </a:rPr>
                        <a:t>Not meaningful; used when a multiple is distorted or not useful.</a:t>
                      </a:r>
                      <a:endParaRPr lang="en-US" sz="890" dirty="0"/>
                    </a:p>
                  </a:txBody>
                  <a:tcPr marL="45720" marR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77240" y="5715000"/>
            <a:ext cx="10378440" cy="438912"/>
          </a:xfrm>
          <a:prstGeom prst="roundRect">
            <a:avLst>
              <a:gd name="adj" fmla="val 12500"/>
            </a:avLst>
          </a:prstGeom>
          <a:solidFill>
            <a:srgbClr val="E0F2FE"/>
          </a:solidFill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905256" y="5806440"/>
            <a:ext cx="10122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334155"/>
                </a:solidFill>
              </a:rPr>
              <a:t>Reminder: blue font in the Excel model means manual input/hardcode; black font means formula or internal workbook link.</a:t>
            </a:r>
            <a:endParaRPr lang="en-US" sz="9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Sources and modeling caveats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13232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The model is built for a portfolio/interview-level analysis, not a fairness opinion or formal investment memo.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1143000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b="1" dirty="0">
                <a:solidFill>
                  <a:srgbClr val="10233F"/>
                </a:solidFill>
              </a:rPr>
              <a:t>PRIMARY SOURCES USED</a:t>
            </a:r>
            <a:endParaRPr lang="en-US" sz="730" dirty="0"/>
          </a:p>
        </p:txBody>
      </p:sp>
      <p:sp>
        <p:nvSpPr>
          <p:cNvPr id="5" name="Shape 3"/>
          <p:cNvSpPr/>
          <p:nvPr/>
        </p:nvSpPr>
        <p:spPr>
          <a:xfrm>
            <a:off x="685800" y="1344168"/>
            <a:ext cx="5212080" cy="0"/>
          </a:xfrm>
          <a:prstGeom prst="line">
            <a:avLst/>
          </a:prstGeom>
          <a:noFill/>
          <a:ln w="12700">
            <a:solidFill>
              <a:srgbClr val="1023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426464"/>
            <a:ext cx="4983480" cy="2057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180" dirty="0">
                <a:solidFill>
                  <a:srgbClr val="334155"/>
                </a:solidFill>
              </a:rPr>
              <a:t>Academy FY2025 and FY2024 Form 10-K filings for historical financials.</a:t>
            </a:r>
            <a:endParaRPr lang="en-US" sz="1180" dirty="0"/>
          </a:p>
          <a:p>
            <a:r>
              <a:rPr lang="en-US" sz="1180" dirty="0">
                <a:solidFill>
                  <a:srgbClr val="334155"/>
                </a:solidFill>
              </a:rPr>
              <a:t>Academy Q1 FY2026 earnings release for guidance context.</a:t>
            </a:r>
            <a:endParaRPr lang="en-US" sz="1180" dirty="0"/>
          </a:p>
          <a:p>
            <a:r>
              <a:rPr lang="en-US" sz="1180" dirty="0">
                <a:solidFill>
                  <a:srgbClr val="334155"/>
                </a:solidFill>
              </a:rPr>
              <a:t>Comparable-company filings/results for DICK'S, Boot Barn, Sportsman's Warehouse, and Tractor Supply.</a:t>
            </a:r>
            <a:endParaRPr lang="en-US" sz="1180" dirty="0"/>
          </a:p>
          <a:p>
            <a:r>
              <a:rPr lang="en-US" sz="1180" dirty="0">
                <a:solidFill>
                  <a:srgbClr val="334155"/>
                </a:solidFill>
              </a:rPr>
              <a:t>U.S. Treasury, NYU Damodaran, and market data source inputs for DCF and market values.</a:t>
            </a:r>
            <a:endParaRPr lang="en-US" sz="1180" dirty="0"/>
          </a:p>
        </p:txBody>
      </p:sp>
      <p:sp>
        <p:nvSpPr>
          <p:cNvPr id="7" name="Text 5"/>
          <p:cNvSpPr/>
          <p:nvPr/>
        </p:nvSpPr>
        <p:spPr>
          <a:xfrm>
            <a:off x="6309360" y="1143000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b="1" dirty="0">
                <a:solidFill>
                  <a:srgbClr val="10233F"/>
                </a:solidFill>
              </a:rPr>
              <a:t>KEY CAVEATS</a:t>
            </a:r>
            <a:endParaRPr lang="en-US" sz="730" dirty="0"/>
          </a:p>
        </p:txBody>
      </p:sp>
      <p:sp>
        <p:nvSpPr>
          <p:cNvPr id="8" name="Shape 6"/>
          <p:cNvSpPr/>
          <p:nvPr/>
        </p:nvSpPr>
        <p:spPr>
          <a:xfrm>
            <a:off x="6309360" y="1344168"/>
            <a:ext cx="4937760" cy="0"/>
          </a:xfrm>
          <a:prstGeom prst="line">
            <a:avLst/>
          </a:prstGeom>
          <a:noFill/>
          <a:ln w="12700">
            <a:solidFill>
              <a:srgbClr val="1023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0" y="1426464"/>
            <a:ext cx="4709160" cy="2057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180" dirty="0">
                <a:solidFill>
                  <a:srgbClr val="334155"/>
                </a:solidFill>
              </a:rPr>
              <a:t>Comps use latest completed fiscal-year financials as a proxy for LTM.</a:t>
            </a:r>
            <a:endParaRPr lang="en-US" sz="1180" dirty="0"/>
          </a:p>
          <a:p>
            <a:r>
              <a:rPr lang="en-US" sz="1180" dirty="0">
                <a:solidFill>
                  <a:srgbClr val="334155"/>
                </a:solidFill>
              </a:rPr>
              <a:t>LBO leverage, acquisition premium, transaction fees, interest rate, hold period, exit multiple, and minimum cash are modeling assumptions.</a:t>
            </a:r>
            <a:endParaRPr lang="en-US" sz="1180" dirty="0"/>
          </a:p>
          <a:p>
            <a:r>
              <a:rPr lang="en-US" sz="1180" dirty="0">
                <a:solidFill>
                  <a:srgbClr val="334155"/>
                </a:solidFill>
              </a:rPr>
              <a:t>Actual PE diligence would require customer, store-level, lender, legal, and market work beyond this workbook.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777240" y="4389120"/>
            <a:ext cx="24688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77240" y="4389120"/>
            <a:ext cx="45720" cy="8686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41832" y="4507992"/>
            <a:ext cx="221284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</a:rPr>
              <a:t>Model Status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941832" y="4702704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33F"/>
                </a:solidFill>
              </a:rPr>
              <a:t>Complete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941832" y="497002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64748B"/>
                </a:solidFill>
              </a:rPr>
              <a:t>Checks tab reads MODEL OK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3520440" y="4389120"/>
            <a:ext cx="24688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520440" y="4389120"/>
            <a:ext cx="45720" cy="8686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85032" y="4507992"/>
            <a:ext cx="221284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</a:rPr>
              <a:t>Base Case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685032" y="4702704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33F"/>
                </a:solidFill>
              </a:rPr>
              <a:t>23.1% IRR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3685032" y="497002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64748B"/>
                </a:solidFill>
              </a:rPr>
              <a:t>After premium and min cash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6263640" y="4389120"/>
            <a:ext cx="24688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263640" y="4389120"/>
            <a:ext cx="45720" cy="868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28232" y="4507992"/>
            <a:ext cx="221284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</a:rPr>
              <a:t>Valuation Range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428232" y="4702704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33F"/>
                </a:solidFill>
              </a:rPr>
              <a:t>$66–$103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6428232" y="497002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64748B"/>
                </a:solidFill>
              </a:rPr>
              <a:t>Comps low to DCF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9006840" y="4389120"/>
            <a:ext cx="24688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9006840" y="4389120"/>
            <a:ext cx="45720" cy="8686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171432" y="4507992"/>
            <a:ext cx="221284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</a:rPr>
              <a:t>Next Step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9171432" y="4702704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33F"/>
                </a:solidFill>
              </a:rPr>
              <a:t>Portfolio Pack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9171432" y="497002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64748B"/>
                </a:solidFill>
              </a:rPr>
              <a:t>README + screenshots + resume bullet</a:t>
            </a:r>
            <a:endParaRPr lang="en-US" sz="82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2769</Words>
  <Application>Microsoft Macintosh PowerPoint</Application>
  <PresentationFormat>Widescreen</PresentationFormat>
  <Paragraphs>564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Academy Sports + Outdoors Valuation &amp; LBO Investment Pitch</dc:title>
  <dc:subject>Academy Sports + Outdoors valuation model and PE-style investment pitch</dc:subject>
  <dc:creator>JT Fontecha</dc:creator>
  <cp:lastModifiedBy>Fontecha, Jared Tyler</cp:lastModifiedBy>
  <cp:revision>13</cp:revision>
  <dcterms:created xsi:type="dcterms:W3CDTF">2026-08-27T03:24:42Z</dcterms:created>
  <dcterms:modified xsi:type="dcterms:W3CDTF">2026-08-27T03:56:03Z</dcterms:modified>
</cp:coreProperties>
</file>